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82" r:id="rId5"/>
    <p:sldId id="285" r:id="rId21"/>
    <p:sldId id="268" r:id="rId6"/>
    <p:sldId id="271" r:id="rId7"/>
    <p:sldId id="270" r:id="rId8"/>
    <p:sldId id="274" r:id="rId9"/>
    <p:sldId id="276" r:id="rId10"/>
    <p:sldId id="272" r:id="rId11"/>
    <p:sldId id="278" r:id="rId12"/>
    <p:sldId id="284" r:id="rId13"/>
    <p:sldId id="280" r:id="rId14"/>
    <p:sldId id="266"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  <Relationship Id="rId21" Type="http://schemas.openxmlformats.org/officeDocument/2006/relationships/slide" Target="slides/slide1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9120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(about 15 seconds)
Hi, we're team The Spark 2.0. This is Jarvis, your private AI companion that lives on your desk.
Everything you see today runs on the device itself: the speech recognition, the AI and the voice. It's private by design, and it keeps working even without internet.
The logo is Jarvis's real face from its screen: two glowing eyes and a smile.
Team The Spark 2.0: Krati Omer, Varad Kalambarkar, Shailesh Jadhav, Gayatri Gopireddi, Shubhangi Dwivedi.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Today's assistants have three problems. They send your voice to the cloud, they are tools rather than companions, and they stop working without internet. Jarvis fixes all three.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Five ideas guide Jarvis: private, on-device, a real companion, transparent and honest.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(about 30 seconds)
One sentence, start to finish.
Listen: the mic is open only when the mute switch is off. Saying Hey Jarvis wakes it, and the green light comes on.
Understand: Whisper turns your speech into text on the device, and we fix common mishearings.
Decide: safety comes first: emergencies and harmful requests are handled by code before anything else. Then plain code answers, like lists, reminders and emergencies. If a live fact is needed, a tool fetches it. Only then does the local AI, Qwen 2.5, answer, using your memories stored on the device.
Check: if the AI is less than 85 percent confident, it says it's not sure; it never guesses facts about you, and false claims like 'I've added it' are blocked.
Respond: Piper speaks the answer and the screen shows it.
Key message: all AI runs on the device, audio never leaves it, and every online call is shown on screen.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CHECKLIST (about 30 seconds)
Here's how Jarvis covers the problem statement. On the left, the must-haves: it's a bot companion on a Raspberry Pi 5, with an end-to-end use case we'll demo live. The three starred must-haves are all met: privacy safeguards, continuous local audio awareness, and all AI on the device with online calls only for live facts. Raw audio never leaves the device, and the listening and muted lights and the mute switch are on the Pi's GPIO pins.
On the right, the good-to-haves: online look-ups alongside local reasoning, five human-potential areas on one device, honest 'I'm not sure' answers, adapting to your preferences, and a power-efficient design: a small model, and most answers come from code without the AI. If asked about battery: it's our next step.
CHECK BEFORE PRESENTING: the mute switch row assumes the switch is wired; if it isn't, say 'mute switch coded, being installed'. Don't claim battery life: the row says power-efficient design on purpose.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REQUIREMENTS (about 35 seconds)
On top of the requirements, we built features that make Jarvis feel like a real companion.
Meeting mode listens for plans and tasks, asks before saving anything, and never keeps the transcript. Brain games like tic-tac-toe work by voice or touch. In an emergency, Jarvis shows 112, the ambulance number 108, the Tele MANAS mental health line and your own contacts, even offline. Wellbeing offers guided breathing and grounding matched to how you feel. 'What's my day?' gives your schedule, reminders and weather in one answer. You can share a list to your phone with a QR code over your own Wi-Fi, with no cloud. And guest mode keeps your private things private while a friend is talking.
All of these run on the device; only the weather in the daily summary goes online.
Demo idea: 'Share my grocery list', then scan the QR code with a phone.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PROBLEMS, REAL FIXES (about 45 seconds)
Testing on the real device taught us a lot.
1 Mic noise: auto-gain was amplifying the room; turning it off dropped the noise level from 8775 to 136.
2 Hallucination: a small model can invent things, so code owns every fact and action, and replies claiming something was done when it wasn't are blocked.
3 Latency: Whisper read a fixed 30-second window for every sentence; fitting it to the recording took it from about 5 seconds to 1.2 on the Pi.
4 Efficiency: lists, reminders, games and emergencies are answered by code with zero AI calls.
5 Scalability: the hardware lives in one layer, so the same code runs on the Pi or a laptop, and a bigger model is one setting away.
6 Accuracy: we use the model's own confidence; below 0.85 it says I'm not sure and offers to look it up.
7 Feasibility: it all runs on a Raspberry Pi 5 with free open-source models, no cloud or API costs.
8 Privacy: only a city name or a short topic ever goes online, never personal data, and every call is shown on the screen. The AI router never even sees your memories.
IF ASKED: confidence = average token probability from the model's logprobs. The mic-noise numbers are the team's own measurement; keep them only if that's what you measured.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(about 25 seconds)
This is our working device: a Raspberry Pi 5 with a touch screen showing Jarvis's face, a USB microphone, and the green listening and red muted lights.
All 188 scripted test conversations pass on the Pi.
It takes about 1.2 seconds to understand what you said, and simple commands like lists, reminders and the time then answer instantly, without the AI.
An AI-generated answer takes about 5 seconds, all on the device.
And all of it runs on an 8 GB Raspberry Pi 5 on your desk.
CHECK BEFORE PRESENTING: ~1.2 s is the team's measured speech-to-text time on the Pi (fix 24); ~5 s is from our Pi speed checks. If you time it again from jarvis_run.txt, put your own numbers on the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(about 35 seconds)
Here's where we take Jarvis next.
Personal routines: Jarvis learns your daily habits, all on the device, and suggests things at the right time.
Multilingual: Hindi, Hinglish and more Indian languages. Whisper and Qwen are already multilingual, so this is realistic.
Privacy and data security: encrypting the data stored on the device, and a hardware switch that cuts the microphone's power.
Voice and face recognition: recognising who is talking, on the device, so guest privacy is based on identity, not on what people say.
A finished device: a compact case with a built-in mic, speaker and battery, so it's a real product on your desk.
Noise cancellation: a microphone array that filters background noise, so Jarvis hears you in busy rooms.
IF ASKED: today guest mode works from what people say; storage is on the device but not yet encrypted; the mute switch is read by software. These are exactly the gaps this roadmap closes.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 Id="rIdBg1" Type="http://schemas.openxmlformats.org/officeDocument/2006/relationships/image" Target="../media/bg_title.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Bg1" Type="http://schemas.openxmlformats.org/officeDocument/2006/relationships/image" Target="../media/bg_content.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Bg1" Type="http://schemas.openxmlformats.org/officeDocument/2006/relationships/image" Target="../media/bg_content.png"/><Relationship Id="rIdMag" Type="http://schemas.openxmlformats.org/officeDocument/2006/relationships/image" Target="../media/image_mag.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Bg1" Type="http://schemas.openxmlformats.org/officeDocument/2006/relationships/image" Target="../media/bg_content.pn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xml"/><Relationship Id="rIdBg1" Type="http://schemas.openxmlformats.org/officeDocument/2006/relationships/image" Target="../media/bg_content.pn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1.xml"/><Relationship Id="rIdBg1" Type="http://schemas.openxmlformats.org/officeDocument/2006/relationships/image" Target="../media/bg_content.pn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xml"/><Relationship Id="rIdBg1" Type="http://schemas.openxmlformats.org/officeDocument/2006/relationships/image" Target="../media/bg_content.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 Id="rIdBg1" Type="http://schemas.openxmlformats.org/officeDocument/2006/relationships/image" Target="../media/bg_content.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 Id="rIdBg1" Type="http://schemas.openxmlformats.org/officeDocument/2006/relationships/image" Target="../media/bg_content.png"/></Relationships>
</file>

<file path=ppt/slides/_rels/slide1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1.xml"/><Relationship Id="rIdBg1" Type="http://schemas.openxmlformats.org/officeDocument/2006/relationships/image" Target="../media/bg_content.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Bg1" Type="http://schemas.openxmlformats.org/officeDocument/2006/relationships/image" Target="../media/bg_content.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1.png"/><Relationship Id="rId4" Type="http://schemas.openxmlformats.org/officeDocument/2006/relationships/image" Target="../media/image37.png"/><Relationship Id="rIdBg1" Type="http://schemas.openxmlformats.org/officeDocument/2006/relationships/image" Target="../media/bg_content.png"/></Relationships>
</file>

<file path=ppt/slides/_rels/slide1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Bg1" Type="http://schemas.openxmlformats.org/officeDocument/2006/relationships/image" Target="../media/bg_content.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 Id="rIdBg1" Type="http://schemas.openxmlformats.org/officeDocument/2006/relationships/image" Target="../media/bg_end.png"/></Relationships>
</file>

<file path=ppt/slides/_rels/slide15.xml.rels><?xml version='1.0' encoding='UTF-8' standalone='yes'?>
<Relationships xmlns="http://schemas.openxmlformats.org/package/2006/relationships"><Relationship Id="rId3" Type="http://schemas.openxmlformats.org/officeDocument/2006/relationships/image" Target="../media/answers_ladder.svg"/><Relationship Id="rId2" Type="http://schemas.openxmlformats.org/officeDocument/2006/relationships/image" Target="../media/answers_ladder.png"/><Relationship Id="rId1" Type="http://schemas.openxmlformats.org/officeDocument/2006/relationships/slideLayout" Target="../slideLayouts/slideLayout1.xml"/><Relationship Id="rIdBg1" Type="http://schemas.openxmlformats.org/officeDocument/2006/relationships/image" Target="../media/bg_content.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14" name="Title"/>
          <p:cNvSpPr txBox="1"/>
          <p:nvPr/>
        </p:nvSpPr>
        <p:spPr>
          <a:xfrm>
            <a:off x="548640" y="1170432"/>
            <a:ext cx="4206240" cy="914400"/>
          </a:xfrm>
          <a:prstGeom prst="rect">
            <a:avLst/>
          </a:prstGeom>
          <a:noFill/>
          <a:ln/>
        </p:spPr>
        <p:txBody>
          <a:bodyPr wrap="square" lIns="0" tIns="0" rIns="0" bIns="0" rtlCol="0" anchor="ctr"/>
          <a:lstStyle/>
          <a:p>
            <a:pPr marL="0" indent="0" algn="l">
              <a:buNone/>
            </a:pPr>
            <a:r>
              <a:rPr lang="en-US" sz="6600" b="1" dirty="0" spc="-100">
                <a:solidFill>
                  <a:srgbClr val="FFFFFF"/>
                </a:solidFill>
              </a:rPr>
              <a:t>Jarvis</a:t>
            </a:r>
            <a:endParaRPr lang="en-US" sz="6600" dirty="0" b="1" spc="-100">
              <a:solidFill>
                <a:srgbClr val="FFFFFF"/>
              </a:solidFill>
            </a:endParaRPr>
          </a:p>
        </p:txBody>
      </p:sp>
      <p:sp>
        <p:nvSpPr>
          <p:cNvPr id="15" name="Subtitle"/>
          <p:cNvSpPr txBox="1"/>
          <p:nvPr/>
        </p:nvSpPr>
        <p:spPr>
          <a:xfrm>
            <a:off x="548640" y="2176272"/>
            <a:ext cx="3840480" cy="603504"/>
          </a:xfrm>
          <a:prstGeom prst="rect">
            <a:avLst/>
          </a:prstGeom>
          <a:noFill/>
          <a:ln/>
        </p:spPr>
        <p:txBody>
          <a:bodyPr wrap="square" lIns="0" tIns="0" rIns="0" bIns="0" rtlCol="0" anchor="t"/>
          <a:lstStyle/>
          <a:p>
            <a:pPr marL="0" indent="0" algn="l">
              <a:buNone/>
            </a:pPr>
            <a:r>
              <a:rPr lang="en-US" sz="1600" dirty="0">
                <a:solidFill>
                  <a:srgbClr val="D4D4D8"/>
                </a:solidFill>
              </a:rPr>
              <a:t>Your private AI companion</a:t>
            </a:r>
            <a:br>
              <a:rPr lang="en-US" sz="1600" dirty="0">
                <a:solidFill>
                  <a:srgbClr val="D4D4D8"/>
                </a:solidFill>
              </a:rPr>
            </a:br>
            <a:r>
              <a:rPr lang="en-US" sz="1600" dirty="0">
                <a:solidFill>
                  <a:srgbClr val="D4D4D8"/>
                </a:solidFill>
              </a:rPr>
              <a:t>that lives on your desk</a:t>
            </a:r>
            <a:endParaRPr lang="en-US" sz="1600" dirty="0">
              <a:solidFill>
                <a:srgbClr val="D4D4D8"/>
              </a:solidFill>
            </a:endParaRPr>
          </a:p>
        </p:txBody>
      </p:sp>
      <p:sp>
        <p:nvSpPr>
          <p:cNvPr id="16" name="Tag 1"/>
          <p:cNvSpPr/>
          <p:nvPr/>
        </p:nvSpPr>
        <p:spPr>
          <a:xfrm>
            <a:off x="548640" y="2971800"/>
            <a:ext cx="1097280" cy="274320"/>
          </a:xfrm>
          <a:prstGeom prst="roundRect">
            <a:avLst>
              <a:gd name="adj" fmla="val 50000"/>
            </a:avLst>
          </a:prstGeom>
          <a:solidFill>
            <a:srgbClr val="FFFFFF">
              <a:alpha val="8000"/>
            </a:srgbClr>
          </a:solidFill>
          <a:ln w="9525">
            <a:solidFill>
              <a:srgbClr val="FF6A2B">
                <a:alpha val="60000"/>
              </a:srgbClr>
            </a:solidFill>
          </a:ln>
        </p:spPr>
      </p:sp>
      <p:sp>
        <p:nvSpPr>
          <p:cNvPr id="17" name="Tag 1 text"/>
          <p:cNvSpPr txBox="1"/>
          <p:nvPr/>
        </p:nvSpPr>
        <p:spPr>
          <a:xfrm>
            <a:off x="548640" y="2971800"/>
            <a:ext cx="1097280" cy="274320"/>
          </a:xfrm>
          <a:prstGeom prst="rect">
            <a:avLst/>
          </a:prstGeom>
          <a:noFill/>
          <a:ln/>
        </p:spPr>
        <p:txBody>
          <a:bodyPr wrap="square" lIns="0" tIns="0" rIns="0" bIns="0" rtlCol="0" anchor="ctr"/>
          <a:lstStyle/>
          <a:p>
            <a:pPr marL="0" indent="0" algn="ctr">
              <a:buNone/>
            </a:pPr>
            <a:r>
              <a:rPr lang="en-US" sz="900" b="0" dirty="0">
                <a:solidFill>
                  <a:srgbClr val="F4F4F5"/>
                </a:solidFill>
              </a:rPr>
              <a:t>On-device AI</a:t>
            </a:r>
            <a:endParaRPr lang="en-US" sz="900" dirty="0" b="0">
              <a:solidFill>
                <a:srgbClr val="F4F4F5"/>
              </a:solidFill>
            </a:endParaRPr>
          </a:p>
        </p:txBody>
      </p:sp>
      <p:sp>
        <p:nvSpPr>
          <p:cNvPr id="18" name="Tag 2"/>
          <p:cNvSpPr/>
          <p:nvPr/>
        </p:nvSpPr>
        <p:spPr>
          <a:xfrm>
            <a:off x="1737360" y="2971800"/>
            <a:ext cx="1325880" cy="274320"/>
          </a:xfrm>
          <a:prstGeom prst="roundRect">
            <a:avLst>
              <a:gd name="adj" fmla="val 50000"/>
            </a:avLst>
          </a:prstGeom>
          <a:solidFill>
            <a:srgbClr val="FFFFFF">
              <a:alpha val="8000"/>
            </a:srgbClr>
          </a:solidFill>
          <a:ln w="9525">
            <a:solidFill>
              <a:srgbClr val="FF6A2B">
                <a:alpha val="60000"/>
              </a:srgbClr>
            </a:solidFill>
          </a:ln>
        </p:spPr>
      </p:sp>
      <p:sp>
        <p:nvSpPr>
          <p:cNvPr id="19" name="Tag 2 text"/>
          <p:cNvSpPr txBox="1"/>
          <p:nvPr/>
        </p:nvSpPr>
        <p:spPr>
          <a:xfrm>
            <a:off x="1737360" y="2971800"/>
            <a:ext cx="1325880" cy="274320"/>
          </a:xfrm>
          <a:prstGeom prst="rect">
            <a:avLst/>
          </a:prstGeom>
          <a:noFill/>
          <a:ln/>
        </p:spPr>
        <p:txBody>
          <a:bodyPr wrap="square" lIns="0" tIns="0" rIns="0" bIns="0" rtlCol="0" anchor="ctr"/>
          <a:lstStyle/>
          <a:p>
            <a:pPr marL="0" indent="0" algn="ctr">
              <a:buNone/>
            </a:pPr>
            <a:r>
              <a:rPr lang="en-US" sz="900" b="0" dirty="0">
                <a:solidFill>
                  <a:srgbClr val="F4F4F5"/>
                </a:solidFill>
              </a:rPr>
              <a:t>Private by design</a:t>
            </a:r>
            <a:endParaRPr lang="en-US" sz="900" dirty="0" b="0">
              <a:solidFill>
                <a:srgbClr val="F4F4F5"/>
              </a:solidFill>
            </a:endParaRPr>
          </a:p>
        </p:txBody>
      </p:sp>
      <p:sp>
        <p:nvSpPr>
          <p:cNvPr id="20" name="Tag 3"/>
          <p:cNvSpPr/>
          <p:nvPr/>
        </p:nvSpPr>
        <p:spPr>
          <a:xfrm>
            <a:off x="3154680" y="2971800"/>
            <a:ext cx="1097280" cy="274320"/>
          </a:xfrm>
          <a:prstGeom prst="roundRect">
            <a:avLst>
              <a:gd name="adj" fmla="val 50000"/>
            </a:avLst>
          </a:prstGeom>
          <a:solidFill>
            <a:srgbClr val="FFFFFF">
              <a:alpha val="8000"/>
            </a:srgbClr>
          </a:solidFill>
          <a:ln w="9525">
            <a:solidFill>
              <a:srgbClr val="FF6A2B">
                <a:alpha val="60000"/>
              </a:srgbClr>
            </a:solidFill>
          </a:ln>
        </p:spPr>
      </p:sp>
      <p:sp>
        <p:nvSpPr>
          <p:cNvPr id="21" name="Tag 3 text"/>
          <p:cNvSpPr txBox="1"/>
          <p:nvPr/>
        </p:nvSpPr>
        <p:spPr>
          <a:xfrm>
            <a:off x="3154680" y="2971800"/>
            <a:ext cx="1097280" cy="274320"/>
          </a:xfrm>
          <a:prstGeom prst="rect">
            <a:avLst/>
          </a:prstGeom>
          <a:noFill/>
          <a:ln/>
        </p:spPr>
        <p:txBody>
          <a:bodyPr wrap="square" lIns="0" tIns="0" rIns="0" bIns="0" rtlCol="0" anchor="ctr"/>
          <a:lstStyle/>
          <a:p>
            <a:pPr marL="0" indent="0" algn="ctr">
              <a:buNone/>
            </a:pPr>
            <a:r>
              <a:rPr lang="en-US" sz="900" b="0" dirty="0">
                <a:solidFill>
                  <a:srgbClr val="F4F4F5"/>
                </a:solidFill>
              </a:rPr>
              <a:t>Works offline</a:t>
            </a:r>
            <a:endParaRPr lang="en-US" sz="900" dirty="0" b="0">
              <a:solidFill>
                <a:srgbClr val="F4F4F5"/>
              </a:solidFill>
            </a:endParaRPr>
          </a:p>
        </p:txBody>
      </p:sp>
      <p:sp>
        <p:nvSpPr>
          <p:cNvPr id="22" name="Team name"/>
          <p:cNvSpPr txBox="1"/>
          <p:nvPr/>
        </p:nvSpPr>
        <p:spPr>
          <a:xfrm>
            <a:off x="548640" y="3767328"/>
            <a:ext cx="4206240" cy="329184"/>
          </a:xfrm>
          <a:prstGeom prst="rect">
            <a:avLst/>
          </a:prstGeom>
          <a:noFill/>
          <a:ln/>
        </p:spPr>
        <p:txBody>
          <a:bodyPr wrap="square" lIns="0" tIns="0" rIns="0" bIns="0" rtlCol="0" anchor="ctr"/>
          <a:lstStyle/>
          <a:p>
            <a:pPr marL="0" indent="0" algn="l">
              <a:buNone/>
            </a:pPr>
            <a:r>
              <a:rPr lang="en-US" sz="1600" b="0" dirty="0">
                <a:solidFill>
                  <a:srgbClr val="A1A1AA"/>
                </a:solidFill>
              </a:rPr>
              <a:t>Team </a:t>
            </a:r>
            <a:r>
              <a:rPr lang="en-US" sz="1600" b="1" dirty="0">
                <a:solidFill>
                  <a:srgbClr val="FFFFFF"/>
                </a:solidFill>
              </a:rPr>
              <a:t>The Spark 2.0</a:t>
            </a:r>
            <a:endParaRPr lang="en-US" sz="1600" dirty="0" b="1"/>
          </a:p>
        </p:txBody>
      </p:sp>
      <p:sp>
        <p:nvSpPr>
          <p:cNvPr id="23" name="Team members"/>
          <p:cNvSpPr txBox="1"/>
          <p:nvPr/>
        </p:nvSpPr>
        <p:spPr>
          <a:xfrm>
            <a:off x="548640" y="4160520"/>
            <a:ext cx="5486400" cy="237744"/>
          </a:xfrm>
          <a:prstGeom prst="rect">
            <a:avLst/>
          </a:prstGeom>
          <a:noFill/>
          <a:ln/>
        </p:spPr>
        <p:txBody>
          <a:bodyPr wrap="square" lIns="0" tIns="0" rIns="0" bIns="0" rtlCol="0" anchor="ctr"/>
          <a:lstStyle/>
          <a:p>
            <a:pPr marL="0" indent="0" algn="l">
              <a:buNone/>
            </a:pPr>
            <a:r>
              <a:rPr lang="en-US" sz="900" dirty="0">
                <a:solidFill>
                  <a:srgbClr val="A1A1AA"/>
                </a:solidFill>
              </a:rPr>
              <a:t>Krati Omer  ·  Varad Kalambarkar  ·  Shailesh Jadhav  ·  Gayatri </a:t>
            </a:r>
            <a:r>
              <a:rPr lang="en-US" sz="900" dirty="0" err="1">
                <a:solidFill>
                  <a:srgbClr val="A1A1AA"/>
                </a:solidFill>
              </a:rPr>
              <a:t>Gopireddi</a:t>
            </a:r>
            <a:r>
              <a:rPr lang="en-US" sz="900" dirty="0">
                <a:solidFill>
                  <a:srgbClr val="A1A1AA"/>
                </a:solidFill>
              </a:rPr>
              <a:t>  ·  Shubhangi Dwivedi</a:t>
            </a:r>
            <a:endParaRPr lang="en-US" sz="900" dirty="0">
              <a:solidFill>
                <a:srgbClr val="A1A1AA"/>
              </a:solidFill>
            </a:endParaRPr>
          </a:p>
        </p:txBody>
      </p:sp>
      <p:sp>
        <p:nvSpPr>
          <p:cNvPr id="24" name="Event line"/>
          <p:cNvSpPr txBox="1"/>
          <p:nvPr/>
        </p:nvSpPr>
        <p:spPr>
          <a:xfrm>
            <a:off x="548640" y="914400"/>
            <a:ext cx="4206240" cy="228600"/>
          </a:xfrm>
          <a:prstGeom prst="rect">
            <a:avLst/>
          </a:prstGeom>
          <a:noFill/>
          <a:ln/>
        </p:spPr>
        <p:txBody>
          <a:bodyPr wrap="square" lIns="0" tIns="0" rIns="0" bIns="0" rtlCol="0" anchor="ctr"/>
          <a:lstStyle/>
          <a:p>
            <a:pPr marL="0" indent="0" algn="l">
              <a:buNone/>
            </a:pPr>
            <a:r>
              <a:rPr lang="en-US" sz="900" b="1" dirty="0" err="1" spc="300" cap="all">
                <a:solidFill>
                  <a:srgbClr val="FF6A2B"/>
                </a:solidFill>
              </a:rPr>
              <a:t>Makeathon</a:t>
            </a:r>
            <a:r>
              <a:rPr lang="en-US" sz="900" b="1" dirty="0" spc="300" cap="all">
                <a:solidFill>
                  <a:srgbClr val="FF6A2B"/>
                </a:solidFill>
              </a:rPr>
              <a:t> 2026  ·  Bot Companion </a:t>
            </a:r>
            <a:endParaRPr lang="en-US" sz="900" dirty="0" b="1" spc="300" cap="all">
              <a:solidFill>
                <a:srgbClr val="FF6A2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12" name="Text 10"/>
          <p:cNvSpPr txBox="1"/>
          <p:nvPr/>
        </p:nvSpPr>
        <p:spPr>
          <a:xfrm>
            <a:off x="1188720" y="201168"/>
            <a:ext cx="6766560" cy="457200"/>
          </a:xfrm>
          <a:prstGeom prst="rect">
            <a:avLst/>
          </a:prstGeom>
          <a:noFill/>
          <a:ln/>
        </p:spPr>
        <p:txBody>
          <a:bodyPr wrap="square" lIns="0" tIns="0" rIns="0" bIns="0" rtlCol="0" anchor="ctr"/>
          <a:lstStyle/>
          <a:p>
            <a:pPr marL="0" indent="0" algn="ctr">
              <a:buNone/>
            </a:pPr>
            <a:r>
              <a:rPr lang="en-US" sz="2400" b="1" dirty="0">
                <a:solidFill>
                  <a:srgbClr val="F4F4F5"/>
                </a:solidFill>
                <a:latin typeface="Poppins" pitchFamily="34" charset="0"/>
                <a:ea typeface="Poppins" pitchFamily="34" charset="-122"/>
                <a:cs typeface="Poppins" pitchFamily="34" charset="-120"/>
              </a:rPr>
              <a:t>Why Jarvis?</a:t>
            </a:r>
            <a:endParaRPr lang="en-US" sz="2400" dirty="0">
              <a:solidFill>
                <a:srgbClr val="F4F4F5"/>
              </a:solidFill>
            </a:endParaRPr>
          </a:p>
        </p:txBody>
      </p:sp>
      <p:sp>
        <p:nvSpPr>
          <p:cNvPr id="13" name="Text 11"/>
          <p:cNvSpPr txBox="1"/>
          <p:nvPr/>
        </p:nvSpPr>
        <p:spPr>
          <a:xfrm>
            <a:off x="1188720" y="658368"/>
            <a:ext cx="6766560" cy="274320"/>
          </a:xfrm>
          <a:prstGeom prst="rect">
            <a:avLst/>
          </a:prstGeom>
          <a:noFill/>
          <a:ln/>
        </p:spPr>
        <p:txBody>
          <a:bodyPr wrap="square" lIns="0" tIns="0" rIns="0" bIns="0" rtlCol="0" anchor="ctr"/>
          <a:lstStyle/>
          <a:p>
            <a:pPr marL="0" indent="0" algn="ctr">
              <a:buNone/>
            </a:pPr>
            <a:r>
              <a:rPr lang="en-US" sz="1100" dirty="0">
                <a:solidFill>
                  <a:srgbClr val="A1A1AA"/>
                </a:solidFill>
                <a:latin typeface="Poppins" pitchFamily="34" charset="0"/>
                <a:ea typeface="Poppins" pitchFamily="34" charset="-122"/>
                <a:cs typeface="Poppins" pitchFamily="34" charset="-120"/>
              </a:rPr>
              <a:t>The problem with today's assistants</a:t>
            </a:r>
            <a:endParaRPr lang="en-US" sz="1100" dirty="0">
              <a:solidFill>
                <a:srgbClr val="F4F4F5"/>
              </a:solidFill>
            </a:endParaRPr>
          </a:p>
        </p:txBody>
      </p:sp>
      <p:sp>
        <p:nvSpPr>
          <p:cNvPr id="14" name="Shape 12"/>
          <p:cNvSpPr/>
          <p:nvPr/>
        </p:nvSpPr>
        <p:spPr>
          <a:xfrm>
            <a:off x="960120" y="1325880"/>
            <a:ext cx="1371600" cy="1371600"/>
          </a:xfrm>
          <a:prstGeom prst="roundRect">
            <a:avLst>
              <a:gd name="adj" fmla="val 16667"/>
            </a:avLst>
          </a:prstGeom>
          <a:solidFill>
            <a:srgbClr val="2A1A14"/>
          </a:solidFill>
          <a:ln w="12700">
            <a:solidFill>
              <a:srgbClr val="4A3026"/>
            </a:solidFill>
            <a:prstDash val="solid"/>
          </a:ln>
        </p:spPr>
        <p:txBody>
          <a:bodyPr/>
          <a:lstStyle/>
          <a:p>
            <a:endParaRPr lang="en-IN">
              <a:solidFill>
                <a:srgbClr val="F4F4F5"/>
              </a:solidFill>
            </a:endParaRPr>
          </a:p>
        </p:txBody>
      </p:sp>
      <p:pic>
        <p:nvPicPr>
          <p:cNvPr id="15" name="Image 0" descr="preencoded.png"/>
          <p:cNvPicPr>
            <a:picLocks noChangeAspect="1"/>
          </p:cNvPicPr>
          <p:nvPr/>
        </p:nvPicPr>
        <p:blipFill>
          <a:blip r:embed="rId3"/>
          <a:stretch>
            <a:fillRect/>
          </a:stretch>
        </p:blipFill>
        <p:spPr>
          <a:xfrm>
            <a:off x="1371600" y="1737360"/>
            <a:ext cx="548640" cy="548640"/>
          </a:xfrm>
          <a:prstGeom prst="rect">
            <a:avLst/>
          </a:prstGeom>
        </p:spPr>
      </p:pic>
      <p:sp>
        <p:nvSpPr>
          <p:cNvPr id="16" name="Shape 13"/>
          <p:cNvSpPr/>
          <p:nvPr/>
        </p:nvSpPr>
        <p:spPr>
          <a:xfrm>
            <a:off x="1143000" y="2834640"/>
            <a:ext cx="1005840" cy="54864"/>
          </a:xfrm>
          <a:prstGeom prst="roundRect">
            <a:avLst>
              <a:gd name="adj" fmla="val 50000"/>
            </a:avLst>
          </a:prstGeom>
          <a:solidFill>
            <a:srgbClr val="2A1A14"/>
          </a:solidFill>
          <a:ln w="12700">
            <a:solidFill>
              <a:srgbClr val="4A3026"/>
            </a:solidFill>
            <a:prstDash val="solid"/>
          </a:ln>
        </p:spPr>
        <p:txBody>
          <a:bodyPr/>
          <a:lstStyle/>
          <a:p>
            <a:endParaRPr lang="en-IN">
              <a:solidFill>
                <a:srgbClr val="F4F4F5"/>
              </a:solidFill>
            </a:endParaRPr>
          </a:p>
        </p:txBody>
      </p:sp>
      <p:sp>
        <p:nvSpPr>
          <p:cNvPr id="17" name="Text 14"/>
          <p:cNvSpPr txBox="1"/>
          <p:nvPr/>
        </p:nvSpPr>
        <p:spPr>
          <a:xfrm>
            <a:off x="594360" y="2971800"/>
            <a:ext cx="2103120" cy="274320"/>
          </a:xfrm>
          <a:prstGeom prst="rect">
            <a:avLst/>
          </a:prstGeom>
          <a:noFill/>
          <a:ln/>
        </p:spPr>
        <p:txBody>
          <a:bodyPr wrap="square" lIns="0" tIns="0" rIns="0" bIns="0" rtlCol="0" anchor="t"/>
          <a:lstStyle/>
          <a:p>
            <a:pPr marL="0" indent="0" algn="ctr">
              <a:buNone/>
            </a:pPr>
            <a:r>
              <a:rPr lang="en-US" sz="1100" b="1" dirty="0">
                <a:solidFill>
                  <a:srgbClr val="F4F4F5"/>
                </a:solidFill>
                <a:latin typeface="Poppins" pitchFamily="34" charset="0"/>
                <a:ea typeface="Poppins" pitchFamily="34" charset="-122"/>
                <a:cs typeface="Poppins" pitchFamily="34" charset="-120"/>
              </a:rPr>
              <a:t>Your voice goes to the cloud</a:t>
            </a:r>
            <a:endParaRPr lang="en-US" sz="1100" dirty="0">
              <a:solidFill>
                <a:srgbClr val="F4F4F5"/>
              </a:solidFill>
            </a:endParaRPr>
          </a:p>
        </p:txBody>
      </p:sp>
      <p:sp>
        <p:nvSpPr>
          <p:cNvPr id="18" name="Text 15"/>
          <p:cNvSpPr txBox="1"/>
          <p:nvPr/>
        </p:nvSpPr>
        <p:spPr>
          <a:xfrm>
            <a:off x="594360" y="3291840"/>
            <a:ext cx="2103120" cy="731520"/>
          </a:xfrm>
          <a:prstGeom prst="rect">
            <a:avLst/>
          </a:prstGeom>
          <a:noFill/>
          <a:ln/>
        </p:spPr>
        <p:txBody>
          <a:bodyPr wrap="square" lIns="0" tIns="0" rIns="0" bIns="0" rtlCol="0" anchor="t"/>
          <a:lstStyle/>
          <a:p>
            <a:pPr marL="0" indent="0" algn="ctr">
              <a:buNone/>
            </a:pPr>
            <a:r>
              <a:rPr lang="en-US" sz="1000" dirty="0">
                <a:solidFill>
                  <a:srgbClr val="F4F4F5"/>
                </a:solidFill>
                <a:latin typeface="Poppins" pitchFamily="34" charset="0"/>
                <a:ea typeface="Poppins" pitchFamily="34" charset="-122"/>
                <a:cs typeface="Poppins" pitchFamily="34" charset="-120"/>
              </a:rPr>
              <a:t>Most assistants send what you say, even health and mood, to company servers.</a:t>
            </a:r>
            <a:endParaRPr lang="en-US" sz="1000" dirty="0">
              <a:solidFill>
                <a:srgbClr val="F4F4F5"/>
              </a:solidFill>
            </a:endParaRPr>
          </a:p>
        </p:txBody>
      </p:sp>
      <p:sp>
        <p:nvSpPr>
          <p:cNvPr id="19" name="Shape 16"/>
          <p:cNvSpPr/>
          <p:nvPr/>
        </p:nvSpPr>
        <p:spPr>
          <a:xfrm>
            <a:off x="3520440" y="1143000"/>
            <a:ext cx="1371600" cy="1371600"/>
          </a:xfrm>
          <a:prstGeom prst="roundRect">
            <a:avLst>
              <a:gd name="adj" fmla="val 16667"/>
            </a:avLst>
          </a:prstGeom>
          <a:solidFill>
            <a:srgbClr val="E0602A"/>
          </a:solidFill>
          <a:ln w="12700">
            <a:solidFill>
              <a:srgbClr val="E0602A"/>
            </a:solidFill>
            <a:prstDash val="solid"/>
          </a:ln>
        </p:spPr>
        <p:txBody>
          <a:bodyPr/>
          <a:lstStyle/>
          <a:p>
            <a:endParaRPr lang="en-IN">
              <a:solidFill>
                <a:srgbClr val="F4F4F5"/>
              </a:solidFill>
            </a:endParaRPr>
          </a:p>
        </p:txBody>
      </p:sp>
      <p:pic>
        <p:nvPicPr>
          <p:cNvPr id="20" name="Image 1" descr="preencoded.png"/>
          <p:cNvPicPr>
            <a:picLocks noChangeAspect="1"/>
          </p:cNvPicPr>
          <p:nvPr/>
        </p:nvPicPr>
        <p:blipFill>
          <a:blip r:embed="rId4"/>
          <a:stretch>
            <a:fillRect/>
          </a:stretch>
        </p:blipFill>
        <p:spPr>
          <a:xfrm>
            <a:off x="3931920" y="1554480"/>
            <a:ext cx="548640" cy="548640"/>
          </a:xfrm>
          <a:prstGeom prst="rect">
            <a:avLst/>
          </a:prstGeom>
        </p:spPr>
      </p:pic>
      <p:sp>
        <p:nvSpPr>
          <p:cNvPr id="21" name="Shape 17"/>
          <p:cNvSpPr/>
          <p:nvPr/>
        </p:nvSpPr>
        <p:spPr>
          <a:xfrm>
            <a:off x="3703320" y="2651760"/>
            <a:ext cx="1005840" cy="54864"/>
          </a:xfrm>
          <a:prstGeom prst="roundRect">
            <a:avLst>
              <a:gd name="adj" fmla="val 50000"/>
            </a:avLst>
          </a:prstGeom>
          <a:solidFill>
            <a:srgbClr val="E0602A"/>
          </a:solidFill>
          <a:ln w="12700">
            <a:solidFill>
              <a:srgbClr val="E0602A"/>
            </a:solidFill>
            <a:prstDash val="solid"/>
          </a:ln>
        </p:spPr>
        <p:txBody>
          <a:bodyPr/>
          <a:lstStyle/>
          <a:p>
            <a:endParaRPr lang="en-IN">
              <a:solidFill>
                <a:srgbClr val="F4F4F5"/>
              </a:solidFill>
            </a:endParaRPr>
          </a:p>
        </p:txBody>
      </p:sp>
      <p:sp>
        <p:nvSpPr>
          <p:cNvPr id="22" name="Text 18"/>
          <p:cNvSpPr txBox="1"/>
          <p:nvPr/>
        </p:nvSpPr>
        <p:spPr>
          <a:xfrm>
            <a:off x="3154680" y="2971800"/>
            <a:ext cx="2103120" cy="274320"/>
          </a:xfrm>
          <a:prstGeom prst="rect">
            <a:avLst/>
          </a:prstGeom>
          <a:noFill/>
          <a:ln/>
        </p:spPr>
        <p:txBody>
          <a:bodyPr wrap="square" lIns="0" tIns="0" rIns="0" bIns="0" rtlCol="0" anchor="t"/>
          <a:lstStyle/>
          <a:p>
            <a:pPr marL="0" indent="0" algn="ctr">
              <a:buNone/>
            </a:pPr>
            <a:r>
              <a:rPr lang="en-US" sz="1100" b="1" dirty="0">
                <a:solidFill>
                  <a:srgbClr val="F4F4F5"/>
                </a:solidFill>
                <a:latin typeface="Poppins" pitchFamily="34" charset="0"/>
                <a:ea typeface="Poppins" pitchFamily="34" charset="-122"/>
                <a:cs typeface="Poppins" pitchFamily="34" charset="-120"/>
              </a:rPr>
              <a:t>Tools, not companions</a:t>
            </a:r>
            <a:endParaRPr lang="en-US" sz="1100" dirty="0">
              <a:solidFill>
                <a:srgbClr val="F4F4F5"/>
              </a:solidFill>
            </a:endParaRPr>
          </a:p>
        </p:txBody>
      </p:sp>
      <p:sp>
        <p:nvSpPr>
          <p:cNvPr id="23" name="Text 19"/>
          <p:cNvSpPr txBox="1"/>
          <p:nvPr/>
        </p:nvSpPr>
        <p:spPr>
          <a:xfrm>
            <a:off x="3154680" y="3291840"/>
            <a:ext cx="2103120" cy="731520"/>
          </a:xfrm>
          <a:prstGeom prst="rect">
            <a:avLst/>
          </a:prstGeom>
          <a:noFill/>
          <a:ln/>
        </p:spPr>
        <p:txBody>
          <a:bodyPr wrap="square" lIns="0" tIns="0" rIns="0" bIns="0" rtlCol="0" anchor="t"/>
          <a:lstStyle/>
          <a:p>
            <a:pPr marL="0" indent="0" algn="ctr">
              <a:buNone/>
            </a:pPr>
            <a:r>
              <a:rPr lang="en-US" sz="1000" dirty="0">
                <a:solidFill>
                  <a:srgbClr val="F4F4F5"/>
                </a:solidFill>
                <a:latin typeface="Poppins" pitchFamily="34" charset="0"/>
                <a:ea typeface="Poppins" pitchFamily="34" charset="-122"/>
                <a:cs typeface="Poppins" pitchFamily="34" charset="-120"/>
              </a:rPr>
              <a:t>They answer commands but don't remember you or care how you feel.</a:t>
            </a:r>
            <a:endParaRPr lang="en-US" sz="1000" dirty="0">
              <a:solidFill>
                <a:srgbClr val="F4F4F5"/>
              </a:solidFill>
            </a:endParaRPr>
          </a:p>
        </p:txBody>
      </p:sp>
      <p:sp>
        <p:nvSpPr>
          <p:cNvPr id="24" name="Shape 20"/>
          <p:cNvSpPr/>
          <p:nvPr/>
        </p:nvSpPr>
        <p:spPr>
          <a:xfrm>
            <a:off x="6080760" y="1325880"/>
            <a:ext cx="1371600" cy="1371600"/>
          </a:xfrm>
          <a:prstGeom prst="roundRect">
            <a:avLst>
              <a:gd name="adj" fmla="val 16667"/>
            </a:avLst>
          </a:prstGeom>
          <a:solidFill>
            <a:srgbClr val="1A1A1F"/>
          </a:solidFill>
          <a:ln w="12700">
            <a:solidFill>
              <a:srgbClr val="2C2C33"/>
            </a:solidFill>
            <a:prstDash val="solid"/>
          </a:ln>
        </p:spPr>
        <p:txBody>
          <a:bodyPr/>
          <a:lstStyle/>
          <a:p>
            <a:endParaRPr lang="en-IN">
              <a:solidFill>
                <a:srgbClr val="F4F4F5"/>
              </a:solidFill>
            </a:endParaRPr>
          </a:p>
        </p:txBody>
      </p:sp>
      <p:pic>
        <p:nvPicPr>
          <p:cNvPr id="25" name="Image 2" descr="preencoded.png"/>
          <p:cNvPicPr>
            <a:picLocks noChangeAspect="1"/>
          </p:cNvPicPr>
          <p:nvPr/>
        </p:nvPicPr>
        <p:blipFill>
          <a:blip r:embed="rId5"/>
          <a:stretch>
            <a:fillRect/>
          </a:stretch>
        </p:blipFill>
        <p:spPr>
          <a:xfrm>
            <a:off x="6492240" y="1737360"/>
            <a:ext cx="548640" cy="548640"/>
          </a:xfrm>
          <a:prstGeom prst="rect">
            <a:avLst/>
          </a:prstGeom>
        </p:spPr>
      </p:pic>
      <p:sp>
        <p:nvSpPr>
          <p:cNvPr id="26" name="Shape 21"/>
          <p:cNvSpPr/>
          <p:nvPr/>
        </p:nvSpPr>
        <p:spPr>
          <a:xfrm>
            <a:off x="6263640" y="2834640"/>
            <a:ext cx="1005840" cy="54864"/>
          </a:xfrm>
          <a:prstGeom prst="roundRect">
            <a:avLst>
              <a:gd name="adj" fmla="val 50000"/>
            </a:avLst>
          </a:prstGeom>
          <a:solidFill>
            <a:srgbClr val="2A1A14"/>
          </a:solidFill>
          <a:ln w="12700">
            <a:solidFill>
              <a:srgbClr val="4A3026"/>
            </a:solidFill>
            <a:prstDash val="solid"/>
          </a:ln>
        </p:spPr>
        <p:txBody>
          <a:bodyPr/>
          <a:lstStyle/>
          <a:p>
            <a:endParaRPr lang="en-IN">
              <a:solidFill>
                <a:srgbClr val="F4F4F5"/>
              </a:solidFill>
            </a:endParaRPr>
          </a:p>
        </p:txBody>
      </p:sp>
      <p:sp>
        <p:nvSpPr>
          <p:cNvPr id="27" name="Text 22"/>
          <p:cNvSpPr txBox="1"/>
          <p:nvPr/>
        </p:nvSpPr>
        <p:spPr>
          <a:xfrm>
            <a:off x="5715000" y="2971800"/>
            <a:ext cx="2103120" cy="274320"/>
          </a:xfrm>
          <a:prstGeom prst="rect">
            <a:avLst/>
          </a:prstGeom>
          <a:noFill/>
          <a:ln/>
        </p:spPr>
        <p:txBody>
          <a:bodyPr wrap="square" lIns="0" tIns="0" rIns="0" bIns="0" rtlCol="0" anchor="t"/>
          <a:lstStyle/>
          <a:p>
            <a:pPr marL="0" indent="0" algn="ctr">
              <a:buNone/>
            </a:pPr>
            <a:r>
              <a:rPr lang="en-US" sz="1100" b="1" dirty="0">
                <a:solidFill>
                  <a:srgbClr val="F4F4F5"/>
                </a:solidFill>
                <a:latin typeface="Poppins" pitchFamily="34" charset="0"/>
                <a:ea typeface="Poppins" pitchFamily="34" charset="-122"/>
                <a:cs typeface="Poppins" pitchFamily="34" charset="-120"/>
              </a:rPr>
              <a:t>No internet, no help</a:t>
            </a:r>
            <a:endParaRPr lang="en-US" sz="1100" dirty="0">
              <a:solidFill>
                <a:srgbClr val="F4F4F5"/>
              </a:solidFill>
            </a:endParaRPr>
          </a:p>
        </p:txBody>
      </p:sp>
      <p:sp>
        <p:nvSpPr>
          <p:cNvPr id="28" name="Text 23"/>
          <p:cNvSpPr txBox="1"/>
          <p:nvPr/>
        </p:nvSpPr>
        <p:spPr>
          <a:xfrm>
            <a:off x="5715000" y="3291840"/>
            <a:ext cx="2103120" cy="731520"/>
          </a:xfrm>
          <a:prstGeom prst="rect">
            <a:avLst/>
          </a:prstGeom>
          <a:noFill/>
          <a:ln/>
        </p:spPr>
        <p:txBody>
          <a:bodyPr wrap="square" lIns="0" tIns="0" rIns="0" bIns="0" rtlCol="0" anchor="t"/>
          <a:lstStyle/>
          <a:p>
            <a:pPr marL="0" indent="0" algn="ctr">
              <a:buNone/>
            </a:pPr>
            <a:r>
              <a:rPr lang="en-US" sz="1000" dirty="0">
                <a:solidFill>
                  <a:srgbClr val="F4F4F5"/>
                </a:solidFill>
                <a:latin typeface="Poppins" pitchFamily="34" charset="0"/>
                <a:ea typeface="Poppins" pitchFamily="34" charset="-122"/>
                <a:cs typeface="Poppins" pitchFamily="34" charset="-120"/>
              </a:rPr>
              <a:t>Cloud assistants stop working the moment the Wi-Fi drops.</a:t>
            </a:r>
            <a:endParaRPr lang="en-US" sz="1000" dirty="0">
              <a:solidFill>
                <a:srgbClr val="F4F4F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12" name="Text 10"/>
          <p:cNvSpPr txBox="1"/>
          <p:nvPr/>
        </p:nvSpPr>
        <p:spPr>
          <a:xfrm>
            <a:off x="1188720" y="201168"/>
            <a:ext cx="6766560" cy="457200"/>
          </a:xfrm>
          <a:prstGeom prst="rect">
            <a:avLst/>
          </a:prstGeom>
          <a:noFill/>
          <a:ln/>
        </p:spPr>
        <p:txBody>
          <a:bodyPr wrap="square" lIns="0" tIns="0" rIns="0" bIns="0" rtlCol="0" anchor="ctr"/>
          <a:lstStyle/>
          <a:p>
            <a:pPr marL="0" indent="0" algn="ctr">
              <a:buNone/>
            </a:pPr>
            <a:r>
              <a:rPr lang="en-US" sz="2400" b="1" dirty="0">
                <a:solidFill>
                  <a:srgbClr val="F4F4F5"/>
                </a:solidFill>
                <a:latin typeface="Poppins" pitchFamily="34" charset="0"/>
                <a:ea typeface="Poppins" pitchFamily="34" charset="-122"/>
                <a:cs typeface="Poppins" pitchFamily="34" charset="-120"/>
              </a:rPr>
              <a:t>Core Vision Elements</a:t>
            </a:r>
            <a:endParaRPr lang="en-US" sz="2400" dirty="0">
              <a:solidFill>
                <a:srgbClr val="F4F4F5"/>
              </a:solidFill>
            </a:endParaRPr>
          </a:p>
        </p:txBody>
      </p:sp>
      <p:sp>
        <p:nvSpPr>
          <p:cNvPr id="13" name="Shape 11"/>
          <p:cNvSpPr/>
          <p:nvPr/>
        </p:nvSpPr>
        <p:spPr>
          <a:xfrm>
            <a:off x="548640" y="1325880"/>
            <a:ext cx="8046720" cy="0"/>
          </a:xfrm>
          <a:prstGeom prst="line">
            <a:avLst/>
          </a:prstGeom>
          <a:noFill/>
          <a:ln w="15875">
            <a:solidFill>
              <a:srgbClr val="3A3A42"/>
            </a:solidFill>
            <a:prstDash val="solid"/>
          </a:ln>
        </p:spPr>
        <p:txBody>
          <a:bodyPr/>
          <a:lstStyle/>
          <a:p>
            <a:endParaRPr lang="en-IN">
              <a:solidFill>
                <a:srgbClr val="F4F4F5"/>
              </a:solidFill>
            </a:endParaRPr>
          </a:p>
        </p:txBody>
      </p:sp>
      <p:sp>
        <p:nvSpPr>
          <p:cNvPr id="14" name="Shape 12"/>
          <p:cNvSpPr/>
          <p:nvPr/>
        </p:nvSpPr>
        <p:spPr>
          <a:xfrm>
            <a:off x="502920" y="1280160"/>
            <a:ext cx="91440" cy="91440"/>
          </a:xfrm>
          <a:prstGeom prst="ellipse">
            <a:avLst/>
          </a:prstGeom>
          <a:solidFill>
            <a:srgbClr val="3A3A42"/>
          </a:solidFill>
          <a:ln w="12700">
            <a:solidFill>
              <a:srgbClr val="3A3A42"/>
            </a:solidFill>
            <a:prstDash val="solid"/>
          </a:ln>
        </p:spPr>
        <p:txBody>
          <a:bodyPr/>
          <a:lstStyle/>
          <a:p>
            <a:endParaRPr lang="en-IN">
              <a:solidFill>
                <a:srgbClr val="F4F4F5"/>
              </a:solidFill>
            </a:endParaRPr>
          </a:p>
        </p:txBody>
      </p:sp>
      <p:sp>
        <p:nvSpPr>
          <p:cNvPr id="15" name="Shape 13"/>
          <p:cNvSpPr/>
          <p:nvPr/>
        </p:nvSpPr>
        <p:spPr>
          <a:xfrm>
            <a:off x="8549640" y="1280160"/>
            <a:ext cx="91440" cy="91440"/>
          </a:xfrm>
          <a:prstGeom prst="ellipse">
            <a:avLst/>
          </a:prstGeom>
          <a:solidFill>
            <a:srgbClr val="3A3A42"/>
          </a:solidFill>
          <a:ln w="12700">
            <a:solidFill>
              <a:srgbClr val="3A3A42"/>
            </a:solidFill>
            <a:prstDash val="solid"/>
          </a:ln>
        </p:spPr>
        <p:txBody>
          <a:bodyPr/>
          <a:lstStyle/>
          <a:p>
            <a:endParaRPr lang="en-IN">
              <a:solidFill>
                <a:srgbClr val="F4F4F5"/>
              </a:solidFill>
            </a:endParaRPr>
          </a:p>
        </p:txBody>
      </p:sp>
      <p:sp>
        <p:nvSpPr>
          <p:cNvPr id="16" name="Text 14"/>
          <p:cNvSpPr txBox="1"/>
          <p:nvPr/>
        </p:nvSpPr>
        <p:spPr>
          <a:xfrm>
            <a:off x="365760" y="868680"/>
            <a:ext cx="1554480" cy="274320"/>
          </a:xfrm>
          <a:prstGeom prst="rect">
            <a:avLst/>
          </a:prstGeom>
          <a:noFill/>
          <a:ln/>
        </p:spPr>
        <p:txBody>
          <a:bodyPr wrap="square" lIns="0" tIns="0" rIns="0" bIns="0" rtlCol="0" anchor="t"/>
          <a:lstStyle/>
          <a:p>
            <a:pPr marL="0" indent="0" algn="ctr">
              <a:buNone/>
            </a:pPr>
            <a:r>
              <a:rPr lang="en-US" sz="1100" b="1" dirty="0">
                <a:solidFill>
                  <a:srgbClr val="F4F4F5"/>
                </a:solidFill>
                <a:latin typeface="Poppins" pitchFamily="34" charset="0"/>
                <a:ea typeface="Poppins" pitchFamily="34" charset="-122"/>
                <a:cs typeface="Poppins" pitchFamily="34" charset="-120"/>
              </a:rPr>
              <a:t>Private</a:t>
            </a:r>
            <a:endParaRPr lang="en-US" sz="1100" dirty="0">
              <a:solidFill>
                <a:srgbClr val="F4F4F5"/>
              </a:solidFill>
            </a:endParaRPr>
          </a:p>
        </p:txBody>
      </p:sp>
      <p:sp>
        <p:nvSpPr>
          <p:cNvPr id="17" name="Shape 15"/>
          <p:cNvSpPr/>
          <p:nvPr/>
        </p:nvSpPr>
        <p:spPr>
          <a:xfrm>
            <a:off x="978408" y="1161288"/>
            <a:ext cx="329184" cy="329184"/>
          </a:xfrm>
          <a:prstGeom prst="ellipse">
            <a:avLst/>
          </a:prstGeom>
          <a:solidFill>
            <a:srgbClr val="FF5F1F"/>
          </a:solidFill>
          <a:ln w="25400">
            <a:solidFill>
              <a:srgbClr val="2C2C33"/>
            </a:solidFill>
            <a:prstDash val="solid"/>
          </a:ln>
        </p:spPr>
        <p:txBody>
          <a:bodyPr/>
          <a:lstStyle/>
          <a:p>
            <a:endParaRPr lang="en-IN">
              <a:solidFill>
                <a:srgbClr val="F4F4F5"/>
              </a:solidFill>
            </a:endParaRPr>
          </a:p>
        </p:txBody>
      </p:sp>
      <p:sp>
        <p:nvSpPr>
          <p:cNvPr id="18" name="Text 16"/>
          <p:cNvSpPr txBox="1"/>
          <p:nvPr/>
        </p:nvSpPr>
        <p:spPr>
          <a:xfrm>
            <a:off x="978408" y="116128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1</a:t>
            </a:r>
            <a:endParaRPr lang="en-US" sz="1100" dirty="0">
              <a:solidFill>
                <a:srgbClr val="F4F4F5"/>
              </a:solidFill>
            </a:endParaRPr>
          </a:p>
        </p:txBody>
      </p:sp>
      <p:sp>
        <p:nvSpPr>
          <p:cNvPr id="19" name="Shape 17"/>
          <p:cNvSpPr/>
          <p:nvPr/>
        </p:nvSpPr>
        <p:spPr>
          <a:xfrm rot="5400000">
            <a:off x="594360" y="1691640"/>
            <a:ext cx="1097280" cy="1234440"/>
          </a:xfrm>
          <a:prstGeom prst="homePlate">
            <a:avLst/>
          </a:prstGeom>
          <a:solidFill>
            <a:srgbClr val="FF5F1F"/>
          </a:solidFill>
          <a:ln w="12700">
            <a:solidFill>
              <a:srgbClr val="FF6A2B"/>
            </a:solidFill>
            <a:prstDash val="solid"/>
          </a:ln>
        </p:spPr>
        <p:txBody>
          <a:bodyPr/>
          <a:lstStyle/>
          <a:p>
            <a:endParaRPr lang="en-IN">
              <a:solidFill>
                <a:srgbClr val="F4F4F5"/>
              </a:solidFill>
            </a:endParaRPr>
          </a:p>
        </p:txBody>
      </p:sp>
      <p:pic>
        <p:nvPicPr>
          <p:cNvPr id="20" name="Image 0" descr="preencoded.png"/>
          <p:cNvPicPr>
            <a:picLocks noChangeAspect="1"/>
          </p:cNvPicPr>
          <p:nvPr/>
        </p:nvPicPr>
        <p:blipFill>
          <a:blip r:embed="rId3"/>
          <a:stretch>
            <a:fillRect/>
          </a:stretch>
        </p:blipFill>
        <p:spPr>
          <a:xfrm>
            <a:off x="868680" y="1965960"/>
            <a:ext cx="548640" cy="548640"/>
          </a:xfrm>
          <a:prstGeom prst="rect">
            <a:avLst/>
          </a:prstGeom>
        </p:spPr>
      </p:pic>
      <p:sp>
        <p:nvSpPr>
          <p:cNvPr id="21" name="Text 18"/>
          <p:cNvSpPr txBox="1"/>
          <p:nvPr/>
        </p:nvSpPr>
        <p:spPr>
          <a:xfrm>
            <a:off x="365760" y="3200400"/>
            <a:ext cx="1554480" cy="822960"/>
          </a:xfrm>
          <a:prstGeom prst="rect">
            <a:avLst/>
          </a:prstGeom>
          <a:noFill/>
          <a:ln/>
        </p:spPr>
        <p:txBody>
          <a:bodyPr wrap="square" lIns="0" tIns="0" rIns="0" bIns="0" rtlCol="0" anchor="t"/>
          <a:lstStyle/>
          <a:p>
            <a:pPr marL="0" indent="0" algn="ctr">
              <a:buNone/>
            </a:pPr>
            <a:r>
              <a:rPr lang="en-US" sz="1000" dirty="0">
                <a:solidFill>
                  <a:srgbClr val="F4F4F5"/>
                </a:solidFill>
                <a:latin typeface="Poppins" pitchFamily="34" charset="0"/>
                <a:ea typeface="Poppins" pitchFamily="34" charset="-122"/>
                <a:cs typeface="Poppins" pitchFamily="34" charset="-120"/>
              </a:rPr>
              <a:t>Your voice and personal data stay on the device.</a:t>
            </a:r>
            <a:endParaRPr lang="en-US" sz="1000" dirty="0">
              <a:solidFill>
                <a:srgbClr val="F4F4F5"/>
              </a:solidFill>
            </a:endParaRPr>
          </a:p>
        </p:txBody>
      </p:sp>
      <p:sp>
        <p:nvSpPr>
          <p:cNvPr id="22" name="Text 19"/>
          <p:cNvSpPr txBox="1"/>
          <p:nvPr/>
        </p:nvSpPr>
        <p:spPr>
          <a:xfrm>
            <a:off x="2080260" y="868680"/>
            <a:ext cx="1554480" cy="274320"/>
          </a:xfrm>
          <a:prstGeom prst="rect">
            <a:avLst/>
          </a:prstGeom>
          <a:noFill/>
          <a:ln/>
        </p:spPr>
        <p:txBody>
          <a:bodyPr wrap="square" lIns="0" tIns="0" rIns="0" bIns="0" rtlCol="0" anchor="t"/>
          <a:lstStyle/>
          <a:p>
            <a:pPr marL="0" indent="0" algn="ctr">
              <a:buNone/>
            </a:pPr>
            <a:r>
              <a:rPr lang="en-US" sz="1100" b="1" dirty="0">
                <a:solidFill>
                  <a:srgbClr val="F4F4F5"/>
                </a:solidFill>
                <a:latin typeface="Poppins" pitchFamily="34" charset="0"/>
                <a:ea typeface="Poppins" pitchFamily="34" charset="-122"/>
                <a:cs typeface="Poppins" pitchFamily="34" charset="-120"/>
              </a:rPr>
              <a:t>On-device</a:t>
            </a:r>
            <a:endParaRPr lang="en-US" sz="1100" dirty="0">
              <a:solidFill>
                <a:srgbClr val="F4F4F5"/>
              </a:solidFill>
            </a:endParaRPr>
          </a:p>
        </p:txBody>
      </p:sp>
      <p:sp>
        <p:nvSpPr>
          <p:cNvPr id="23" name="Shape 20"/>
          <p:cNvSpPr/>
          <p:nvPr/>
        </p:nvSpPr>
        <p:spPr>
          <a:xfrm>
            <a:off x="2692908" y="1161288"/>
            <a:ext cx="329184" cy="329184"/>
          </a:xfrm>
          <a:prstGeom prst="ellipse">
            <a:avLst/>
          </a:prstGeom>
          <a:solidFill>
            <a:srgbClr val="E0602A"/>
          </a:solidFill>
          <a:ln w="25400">
            <a:solidFill>
              <a:srgbClr val="2C2C33"/>
            </a:solidFill>
            <a:prstDash val="solid"/>
          </a:ln>
        </p:spPr>
        <p:txBody>
          <a:bodyPr/>
          <a:lstStyle/>
          <a:p>
            <a:endParaRPr lang="en-IN">
              <a:solidFill>
                <a:srgbClr val="F4F4F5"/>
              </a:solidFill>
            </a:endParaRPr>
          </a:p>
        </p:txBody>
      </p:sp>
      <p:sp>
        <p:nvSpPr>
          <p:cNvPr id="24" name="Text 21"/>
          <p:cNvSpPr txBox="1"/>
          <p:nvPr/>
        </p:nvSpPr>
        <p:spPr>
          <a:xfrm>
            <a:off x="2692908" y="116128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2</a:t>
            </a:r>
            <a:endParaRPr lang="en-US" sz="1100" dirty="0">
              <a:solidFill>
                <a:srgbClr val="F4F4F5"/>
              </a:solidFill>
            </a:endParaRPr>
          </a:p>
        </p:txBody>
      </p:sp>
      <p:sp>
        <p:nvSpPr>
          <p:cNvPr id="25" name="Shape 22"/>
          <p:cNvSpPr/>
          <p:nvPr/>
        </p:nvSpPr>
        <p:spPr>
          <a:xfrm rot="5400000">
            <a:off x="2308860" y="1691640"/>
            <a:ext cx="1097280" cy="1234440"/>
          </a:xfrm>
          <a:prstGeom prst="homePlate">
            <a:avLst/>
          </a:prstGeom>
          <a:solidFill>
            <a:srgbClr val="E0602A"/>
          </a:solidFill>
          <a:ln w="12700">
            <a:solidFill>
              <a:srgbClr val="E0602A"/>
            </a:solidFill>
            <a:prstDash val="solid"/>
          </a:ln>
        </p:spPr>
        <p:txBody>
          <a:bodyPr/>
          <a:lstStyle/>
          <a:p>
            <a:endParaRPr lang="en-IN">
              <a:solidFill>
                <a:srgbClr val="F4F4F5"/>
              </a:solidFill>
            </a:endParaRPr>
          </a:p>
        </p:txBody>
      </p:sp>
      <p:pic>
        <p:nvPicPr>
          <p:cNvPr id="26" name="Image 1" descr="preencoded.png"/>
          <p:cNvPicPr>
            <a:picLocks noChangeAspect="1"/>
          </p:cNvPicPr>
          <p:nvPr/>
        </p:nvPicPr>
        <p:blipFill>
          <a:blip r:embed="rId4"/>
          <a:stretch>
            <a:fillRect/>
          </a:stretch>
        </p:blipFill>
        <p:spPr>
          <a:xfrm>
            <a:off x="2583180" y="1965960"/>
            <a:ext cx="548640" cy="548640"/>
          </a:xfrm>
          <a:prstGeom prst="rect">
            <a:avLst/>
          </a:prstGeom>
        </p:spPr>
      </p:pic>
      <p:sp>
        <p:nvSpPr>
          <p:cNvPr id="27" name="Text 23"/>
          <p:cNvSpPr txBox="1"/>
          <p:nvPr/>
        </p:nvSpPr>
        <p:spPr>
          <a:xfrm>
            <a:off x="2080260" y="3200400"/>
            <a:ext cx="1554480" cy="822960"/>
          </a:xfrm>
          <a:prstGeom prst="rect">
            <a:avLst/>
          </a:prstGeom>
          <a:noFill/>
          <a:ln/>
        </p:spPr>
        <p:txBody>
          <a:bodyPr wrap="square" lIns="0" tIns="0" rIns="0" bIns="0" rtlCol="0" anchor="t"/>
          <a:lstStyle/>
          <a:p>
            <a:pPr marL="0" indent="0" algn="ctr">
              <a:buNone/>
            </a:pPr>
            <a:r>
              <a:rPr lang="en-US" sz="1000" dirty="0">
                <a:solidFill>
                  <a:srgbClr val="F4F4F5"/>
                </a:solidFill>
                <a:latin typeface="Poppins" pitchFamily="34" charset="0"/>
                <a:ea typeface="Poppins" pitchFamily="34" charset="-122"/>
                <a:cs typeface="Poppins" pitchFamily="34" charset="-120"/>
              </a:rPr>
              <a:t>Core features run fully on a Raspberry Pi 5.</a:t>
            </a:r>
            <a:endParaRPr lang="en-US" sz="1000" dirty="0">
              <a:solidFill>
                <a:srgbClr val="F4F4F5"/>
              </a:solidFill>
            </a:endParaRPr>
          </a:p>
        </p:txBody>
      </p:sp>
      <p:sp>
        <p:nvSpPr>
          <p:cNvPr id="28" name="Text 24"/>
          <p:cNvSpPr txBox="1"/>
          <p:nvPr/>
        </p:nvSpPr>
        <p:spPr>
          <a:xfrm>
            <a:off x="3794760" y="868680"/>
            <a:ext cx="1554480" cy="274320"/>
          </a:xfrm>
          <a:prstGeom prst="rect">
            <a:avLst/>
          </a:prstGeom>
          <a:noFill/>
          <a:ln/>
        </p:spPr>
        <p:txBody>
          <a:bodyPr wrap="square" lIns="0" tIns="0" rIns="0" bIns="0" rtlCol="0" anchor="t"/>
          <a:lstStyle/>
          <a:p>
            <a:pPr marL="0" indent="0" algn="ctr">
              <a:buNone/>
            </a:pPr>
            <a:r>
              <a:rPr lang="en-US" sz="1100" b="1" dirty="0">
                <a:solidFill>
                  <a:srgbClr val="F4F4F5"/>
                </a:solidFill>
                <a:latin typeface="Poppins" pitchFamily="34" charset="0"/>
                <a:ea typeface="Poppins" pitchFamily="34" charset="-122"/>
                <a:cs typeface="Poppins" pitchFamily="34" charset="-120"/>
              </a:rPr>
              <a:t>Companion</a:t>
            </a:r>
            <a:endParaRPr lang="en-US" sz="1100" dirty="0">
              <a:solidFill>
                <a:srgbClr val="F4F4F5"/>
              </a:solidFill>
            </a:endParaRPr>
          </a:p>
        </p:txBody>
      </p:sp>
      <p:sp>
        <p:nvSpPr>
          <p:cNvPr id="29" name="Shape 25"/>
          <p:cNvSpPr/>
          <p:nvPr/>
        </p:nvSpPr>
        <p:spPr>
          <a:xfrm>
            <a:off x="4407408" y="1161288"/>
            <a:ext cx="329184" cy="329184"/>
          </a:xfrm>
          <a:prstGeom prst="ellipse">
            <a:avLst/>
          </a:prstGeom>
          <a:solidFill>
            <a:srgbClr val="1A1A1F"/>
          </a:solidFill>
          <a:ln w="25400">
            <a:solidFill>
              <a:srgbClr val="2C2C33"/>
            </a:solidFill>
            <a:prstDash val="solid"/>
          </a:ln>
        </p:spPr>
        <p:txBody>
          <a:bodyPr/>
          <a:lstStyle/>
          <a:p>
            <a:endParaRPr lang="en-IN">
              <a:solidFill>
                <a:srgbClr val="F4F4F5"/>
              </a:solidFill>
            </a:endParaRPr>
          </a:p>
        </p:txBody>
      </p:sp>
      <p:sp>
        <p:nvSpPr>
          <p:cNvPr id="30" name="Text 26"/>
          <p:cNvSpPr txBox="1"/>
          <p:nvPr/>
        </p:nvSpPr>
        <p:spPr>
          <a:xfrm>
            <a:off x="4407408" y="1161288"/>
            <a:ext cx="329184" cy="329184"/>
          </a:xfrm>
          <a:prstGeom prst="rect">
            <a:avLst/>
          </a:prstGeom>
          <a:noFill/>
          <a:ln/>
        </p:spPr>
        <p:txBody>
          <a:bodyPr wrap="square" lIns="0" tIns="0" rIns="0" bIns="0" rtlCol="0" anchor="ctr"/>
          <a:lstStyle/>
          <a:p>
            <a:pPr marL="0" indent="0" algn="ctr">
              <a:buNone/>
            </a:pPr>
            <a:r>
              <a:rPr lang="en-US" sz="1100" b="1" dirty="0">
                <a:solidFill>
                  <a:srgbClr val="F4F4F5"/>
                </a:solidFill>
                <a:latin typeface="Poppins" pitchFamily="34" charset="0"/>
                <a:ea typeface="Poppins" pitchFamily="34" charset="-122"/>
                <a:cs typeface="Poppins" pitchFamily="34" charset="-120"/>
              </a:rPr>
              <a:t>3</a:t>
            </a:r>
            <a:endParaRPr lang="en-US" sz="1100" dirty="0">
              <a:solidFill>
                <a:srgbClr val="F4F4F5"/>
              </a:solidFill>
            </a:endParaRPr>
          </a:p>
        </p:txBody>
      </p:sp>
      <p:sp>
        <p:nvSpPr>
          <p:cNvPr id="31" name="Shape 27"/>
          <p:cNvSpPr/>
          <p:nvPr/>
        </p:nvSpPr>
        <p:spPr>
          <a:xfrm rot="5400000">
            <a:off x="4023360" y="1691640"/>
            <a:ext cx="1097280" cy="1234440"/>
          </a:xfrm>
          <a:prstGeom prst="homePlate">
            <a:avLst/>
          </a:prstGeom>
          <a:solidFill>
            <a:srgbClr val="1A1A1F"/>
          </a:solidFill>
          <a:ln w="12700">
            <a:solidFill>
              <a:srgbClr val="2C2C33"/>
            </a:solidFill>
            <a:prstDash val="solid"/>
          </a:ln>
        </p:spPr>
        <p:txBody>
          <a:bodyPr/>
          <a:lstStyle/>
          <a:p>
            <a:endParaRPr lang="en-IN">
              <a:solidFill>
                <a:srgbClr val="F4F4F5"/>
              </a:solidFill>
            </a:endParaRPr>
          </a:p>
        </p:txBody>
      </p:sp>
      <p:pic>
        <p:nvPicPr>
          <p:cNvPr id="32" name="Image 2" descr="preencoded.png"/>
          <p:cNvPicPr>
            <a:picLocks noChangeAspect="1"/>
          </p:cNvPicPr>
          <p:nvPr/>
        </p:nvPicPr>
        <p:blipFill>
          <a:blip r:embed="rId5"/>
          <a:stretch>
            <a:fillRect/>
          </a:stretch>
        </p:blipFill>
        <p:spPr>
          <a:xfrm>
            <a:off x="4297680" y="1965960"/>
            <a:ext cx="548640" cy="548640"/>
          </a:xfrm>
          <a:prstGeom prst="rect">
            <a:avLst/>
          </a:prstGeom>
        </p:spPr>
      </p:pic>
      <p:sp>
        <p:nvSpPr>
          <p:cNvPr id="33" name="Text 28"/>
          <p:cNvSpPr txBox="1"/>
          <p:nvPr/>
        </p:nvSpPr>
        <p:spPr>
          <a:xfrm>
            <a:off x="3794760" y="3200400"/>
            <a:ext cx="1554480" cy="822960"/>
          </a:xfrm>
          <a:prstGeom prst="rect">
            <a:avLst/>
          </a:prstGeom>
          <a:noFill/>
          <a:ln/>
        </p:spPr>
        <p:txBody>
          <a:bodyPr wrap="square" lIns="0" tIns="0" rIns="0" bIns="0" rtlCol="0" anchor="t"/>
          <a:lstStyle/>
          <a:p>
            <a:pPr algn="ctr"/>
            <a:r>
              <a:rPr lang="en-IN" sz="1000" dirty="0">
                <a:solidFill>
                  <a:srgbClr val="F4F4F5"/>
                </a:solidFill>
                <a:latin typeface="Poppins" panose="00000500000000000000" pitchFamily="2" charset="0"/>
                <a:cs typeface="Poppins" panose="00000500000000000000" pitchFamily="2" charset="0"/>
              </a:rPr>
              <a:t>Remembers you, gets things done, helps you focus and feel better.</a:t>
            </a:r>
            <a:endParaRPr lang="en-US" sz="1000" dirty="0">
              <a:solidFill>
                <a:srgbClr val="F4F4F5"/>
              </a:solidFill>
              <a:latin typeface="Poppins" panose="00000500000000000000" pitchFamily="2" charset="0"/>
              <a:cs typeface="Poppins" panose="00000500000000000000" pitchFamily="2" charset="0"/>
            </a:endParaRPr>
          </a:p>
        </p:txBody>
      </p:sp>
      <p:sp>
        <p:nvSpPr>
          <p:cNvPr id="34" name="Text 29"/>
          <p:cNvSpPr txBox="1"/>
          <p:nvPr/>
        </p:nvSpPr>
        <p:spPr>
          <a:xfrm>
            <a:off x="5509260" y="868680"/>
            <a:ext cx="1554480" cy="274320"/>
          </a:xfrm>
          <a:prstGeom prst="rect">
            <a:avLst/>
          </a:prstGeom>
          <a:noFill/>
          <a:ln/>
        </p:spPr>
        <p:txBody>
          <a:bodyPr wrap="square" lIns="0" tIns="0" rIns="0" bIns="0" rtlCol="0" anchor="t"/>
          <a:lstStyle/>
          <a:p>
            <a:pPr marL="0" indent="0" algn="ctr">
              <a:buNone/>
            </a:pPr>
            <a:r>
              <a:rPr lang="en-US" sz="1100" b="1" dirty="0">
                <a:solidFill>
                  <a:srgbClr val="F4F4F5"/>
                </a:solidFill>
                <a:latin typeface="Poppins" pitchFamily="34" charset="0"/>
                <a:cs typeface="Poppins" pitchFamily="34" charset="-120"/>
              </a:rPr>
              <a:t>Transparency</a:t>
            </a:r>
            <a:endParaRPr lang="en-US" sz="1100" dirty="0">
              <a:solidFill>
                <a:srgbClr val="F4F4F5"/>
              </a:solidFill>
            </a:endParaRPr>
          </a:p>
        </p:txBody>
      </p:sp>
      <p:sp>
        <p:nvSpPr>
          <p:cNvPr id="35" name="Shape 30"/>
          <p:cNvSpPr/>
          <p:nvPr/>
        </p:nvSpPr>
        <p:spPr>
          <a:xfrm>
            <a:off x="6121908" y="1161288"/>
            <a:ext cx="329184" cy="329184"/>
          </a:xfrm>
          <a:prstGeom prst="ellipse">
            <a:avLst/>
          </a:prstGeom>
          <a:solidFill>
            <a:srgbClr val="E0602A"/>
          </a:solidFill>
          <a:ln w="25400">
            <a:solidFill>
              <a:srgbClr val="2C2C33"/>
            </a:solidFill>
            <a:prstDash val="solid"/>
          </a:ln>
        </p:spPr>
        <p:txBody>
          <a:bodyPr/>
          <a:lstStyle/>
          <a:p>
            <a:endParaRPr lang="en-IN">
              <a:solidFill>
                <a:srgbClr val="F4F4F5"/>
              </a:solidFill>
            </a:endParaRPr>
          </a:p>
        </p:txBody>
      </p:sp>
      <p:sp>
        <p:nvSpPr>
          <p:cNvPr id="36" name="Text 31"/>
          <p:cNvSpPr txBox="1"/>
          <p:nvPr/>
        </p:nvSpPr>
        <p:spPr>
          <a:xfrm>
            <a:off x="6121908" y="116128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4</a:t>
            </a:r>
            <a:endParaRPr lang="en-US" sz="1100" dirty="0">
              <a:solidFill>
                <a:srgbClr val="F4F4F5"/>
              </a:solidFill>
            </a:endParaRPr>
          </a:p>
        </p:txBody>
      </p:sp>
      <p:sp>
        <p:nvSpPr>
          <p:cNvPr id="37" name="Shape 32"/>
          <p:cNvSpPr/>
          <p:nvPr/>
        </p:nvSpPr>
        <p:spPr>
          <a:xfrm rot="5400000">
            <a:off x="5737860" y="1691640"/>
            <a:ext cx="1097280" cy="1234440"/>
          </a:xfrm>
          <a:prstGeom prst="homePlate">
            <a:avLst/>
          </a:prstGeom>
          <a:solidFill>
            <a:srgbClr val="E0602A"/>
          </a:solidFill>
          <a:ln w="12700">
            <a:solidFill>
              <a:srgbClr val="E0602A"/>
            </a:solidFill>
            <a:prstDash val="solid"/>
          </a:ln>
        </p:spPr>
        <p:txBody>
          <a:bodyPr/>
          <a:lstStyle/>
          <a:p/>
          <a:p/>
        </p:txBody>
      </p:sp>
      <p:pic>
        <p:nvPicPr>
          <p:cNvPr id="90" name="Transparency icon" descr="Magnifying glass"/>
          <p:cNvPicPr>
            <a:picLocks noChangeAspect="1"/>
          </p:cNvPicPr>
          <p:nvPr/>
        </p:nvPicPr>
        <p:blipFill>
          <a:blip r:embed="rIdMag"/>
          <a:stretch>
            <a:fillRect/>
          </a:stretch>
        </p:blipFill>
        <p:spPr>
          <a:xfrm>
            <a:off x="6012180" y="1965960"/>
            <a:ext cx="548640" cy="548640"/>
          </a:xfrm>
          <a:prstGeom prst="rect">
            <a:avLst/>
          </a:prstGeom>
        </p:spPr>
      </p:pic>
      <p:sp>
        <p:nvSpPr>
          <p:cNvPr id="39" name="Text 33"/>
          <p:cNvSpPr txBox="1"/>
          <p:nvPr/>
        </p:nvSpPr>
        <p:spPr>
          <a:xfrm>
            <a:off x="5509260" y="3200400"/>
            <a:ext cx="1554480" cy="822960"/>
          </a:xfrm>
          <a:prstGeom prst="rect">
            <a:avLst/>
          </a:prstGeom>
          <a:noFill/>
          <a:ln/>
        </p:spPr>
        <p:txBody>
          <a:bodyPr wrap="square" lIns="0" tIns="0" rIns="0" bIns="0" rtlCol="0" anchor="t"/>
          <a:lstStyle/>
          <a:p>
            <a:pPr algn="ctr"/>
            <a:r>
              <a:rPr lang="en-US" sz="1000" dirty="0">
                <a:solidFill>
                  <a:srgbClr val="F4F4F5"/>
                </a:solidFill>
                <a:latin typeface="Poppins" panose="00000500000000000000" pitchFamily="2" charset="0"/>
                <a:cs typeface="Poppins" panose="00000500000000000000" pitchFamily="2" charset="0"/>
              </a:rPr>
              <a:t>The light shows when it's listening, the screen shows what goes online, and the switch shows the mic is truly off.</a:t>
            </a:r>
          </a:p>
        </p:txBody>
      </p:sp>
      <p:sp>
        <p:nvSpPr>
          <p:cNvPr id="40" name="Text 34"/>
          <p:cNvSpPr txBox="1"/>
          <p:nvPr/>
        </p:nvSpPr>
        <p:spPr>
          <a:xfrm>
            <a:off x="7223760" y="868680"/>
            <a:ext cx="1554480" cy="274320"/>
          </a:xfrm>
          <a:prstGeom prst="rect">
            <a:avLst/>
          </a:prstGeom>
          <a:noFill/>
          <a:ln/>
        </p:spPr>
        <p:txBody>
          <a:bodyPr wrap="square" lIns="0" tIns="0" rIns="0" bIns="0" rtlCol="0" anchor="t"/>
          <a:lstStyle/>
          <a:p>
            <a:pPr marL="0" indent="0" algn="ctr">
              <a:buNone/>
            </a:pPr>
            <a:r>
              <a:rPr lang="en-US" sz="1100" b="1" dirty="0">
                <a:solidFill>
                  <a:srgbClr val="F4F4F5"/>
                </a:solidFill>
                <a:latin typeface="Poppins" pitchFamily="34" charset="0"/>
                <a:ea typeface="Poppins" pitchFamily="34" charset="-122"/>
                <a:cs typeface="Poppins" pitchFamily="34" charset="-120"/>
              </a:rPr>
              <a:t>Honest</a:t>
            </a:r>
            <a:endParaRPr lang="en-US" sz="1100" dirty="0">
              <a:solidFill>
                <a:srgbClr val="F4F4F5"/>
              </a:solidFill>
            </a:endParaRPr>
          </a:p>
        </p:txBody>
      </p:sp>
      <p:sp>
        <p:nvSpPr>
          <p:cNvPr id="41" name="Shape 35"/>
          <p:cNvSpPr/>
          <p:nvPr/>
        </p:nvSpPr>
        <p:spPr>
          <a:xfrm>
            <a:off x="7836408" y="1161288"/>
            <a:ext cx="329184" cy="329184"/>
          </a:xfrm>
          <a:prstGeom prst="ellipse">
            <a:avLst/>
          </a:prstGeom>
          <a:solidFill>
            <a:srgbClr val="FF5F1F"/>
          </a:solidFill>
          <a:ln w="25400">
            <a:solidFill>
              <a:srgbClr val="2C2C33"/>
            </a:solidFill>
            <a:prstDash val="solid"/>
          </a:ln>
        </p:spPr>
        <p:txBody>
          <a:bodyPr/>
          <a:lstStyle/>
          <a:p>
            <a:endParaRPr lang="en-IN">
              <a:solidFill>
                <a:srgbClr val="F4F4F5"/>
              </a:solidFill>
            </a:endParaRPr>
          </a:p>
        </p:txBody>
      </p:sp>
      <p:sp>
        <p:nvSpPr>
          <p:cNvPr id="42" name="Text 36"/>
          <p:cNvSpPr txBox="1"/>
          <p:nvPr/>
        </p:nvSpPr>
        <p:spPr>
          <a:xfrm>
            <a:off x="7836408" y="116128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5</a:t>
            </a:r>
            <a:endParaRPr lang="en-US" sz="1100" dirty="0">
              <a:solidFill>
                <a:srgbClr val="F4F4F5"/>
              </a:solidFill>
            </a:endParaRPr>
          </a:p>
        </p:txBody>
      </p:sp>
      <p:sp>
        <p:nvSpPr>
          <p:cNvPr id="43" name="Shape 37"/>
          <p:cNvSpPr/>
          <p:nvPr/>
        </p:nvSpPr>
        <p:spPr>
          <a:xfrm rot="5400000">
            <a:off x="7452360" y="1691640"/>
            <a:ext cx="1097280" cy="1234440"/>
          </a:xfrm>
          <a:prstGeom prst="homePlate">
            <a:avLst/>
          </a:prstGeom>
          <a:solidFill>
            <a:srgbClr val="FF5F1F"/>
          </a:solidFill>
          <a:ln w="12700">
            <a:solidFill>
              <a:srgbClr val="FF6A2B"/>
            </a:solidFill>
            <a:prstDash val="solid"/>
          </a:ln>
        </p:spPr>
        <p:txBody>
          <a:bodyPr/>
          <a:lstStyle/>
          <a:p>
            <a:endParaRPr lang="en-IN">
              <a:solidFill>
                <a:srgbClr val="F4F4F5"/>
              </a:solidFill>
            </a:endParaRPr>
          </a:p>
        </p:txBody>
      </p:sp>
      <p:pic>
        <p:nvPicPr>
          <p:cNvPr id="44" name="Image 4" descr="preencoded.png"/>
          <p:cNvPicPr>
            <a:picLocks noChangeAspect="1"/>
          </p:cNvPicPr>
          <p:nvPr/>
        </p:nvPicPr>
        <p:blipFill>
          <a:blip r:embed="rId6"/>
          <a:stretch>
            <a:fillRect/>
          </a:stretch>
        </p:blipFill>
        <p:spPr>
          <a:xfrm>
            <a:off x="7726680" y="1965960"/>
            <a:ext cx="548640" cy="548640"/>
          </a:xfrm>
          <a:prstGeom prst="rect">
            <a:avLst/>
          </a:prstGeom>
        </p:spPr>
      </p:pic>
      <p:sp>
        <p:nvSpPr>
          <p:cNvPr id="45" name="Text 38"/>
          <p:cNvSpPr txBox="1"/>
          <p:nvPr/>
        </p:nvSpPr>
        <p:spPr>
          <a:xfrm>
            <a:off x="7223760" y="3200400"/>
            <a:ext cx="1554480" cy="822960"/>
          </a:xfrm>
          <a:prstGeom prst="rect">
            <a:avLst/>
          </a:prstGeom>
          <a:noFill/>
          <a:ln/>
        </p:spPr>
        <p:txBody>
          <a:bodyPr wrap="square" lIns="0" tIns="0" rIns="0" bIns="0" rtlCol="0" anchor="t"/>
          <a:lstStyle/>
          <a:p>
            <a:pPr marL="0" indent="0" algn="ctr">
              <a:buNone/>
            </a:pPr>
            <a:r>
              <a:rPr lang="en-US" sz="1000" dirty="0">
                <a:solidFill>
                  <a:srgbClr val="F4F4F5"/>
                </a:solidFill>
                <a:latin typeface="Poppins" pitchFamily="34" charset="0"/>
                <a:ea typeface="Poppins" pitchFamily="34" charset="-122"/>
                <a:cs typeface="Poppins" pitchFamily="34" charset="-120"/>
              </a:rPr>
              <a:t>Says "I'm not sure" instead of guessing.</a:t>
            </a:r>
            <a:endParaRPr lang="en-US" sz="1000" dirty="0">
              <a:solidFill>
                <a:srgbClr val="F4F4F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365760" y="182880"/>
            <a:ext cx="8412480" cy="411480"/>
          </a:xfrm>
          <a:prstGeom prst="rect">
            <a:avLst/>
          </a:prstGeom>
          <a:noFill/>
          <a:ln/>
        </p:spPr>
        <p:txBody>
          <a:bodyPr wrap="square" lIns="0" tIns="0" rIns="0" bIns="0" rtlCol="0" anchor="ctr"/>
          <a:lstStyle/>
          <a:p>
            <a:pPr marL="0" indent="0">
              <a:buNone/>
            </a:pPr>
            <a:r>
              <a:rPr lang="en-US" sz="2400" b="1" dirty="0">
                <a:solidFill>
                  <a:srgbClr val="FF6A2B"/>
                </a:solidFill>
              </a:rPr>
              <a:t>Jarvis: end-to-end flow</a:t>
            </a:r>
            <a:endParaRPr lang="en-US" sz="2400" dirty="0">
              <a:solidFill>
                <a:srgbClr val="F4F4F5"/>
              </a:solidFill>
            </a:endParaRPr>
          </a:p>
        </p:txBody>
      </p:sp>
      <p:sp>
        <p:nvSpPr>
          <p:cNvPr id="3" name="Subtitle"/>
          <p:cNvSpPr txBox="1"/>
          <p:nvPr/>
        </p:nvSpPr>
        <p:spPr>
          <a:xfrm>
            <a:off x="365760" y="594360"/>
            <a:ext cx="8412480" cy="237744"/>
          </a:xfrm>
          <a:prstGeom prst="rect">
            <a:avLst/>
          </a:prstGeom>
          <a:noFill/>
          <a:ln/>
        </p:spPr>
        <p:txBody>
          <a:bodyPr wrap="square" lIns="0" tIns="0" rIns="0" bIns="0" rtlCol="0" anchor="ctr"/>
          <a:lstStyle/>
          <a:p>
            <a:pPr marL="0" indent="0">
              <a:buNone/>
            </a:pPr>
            <a:r>
              <a:rPr lang="en-US" sz="1100" dirty="0">
                <a:solidFill>
                  <a:srgbClr val="F4F4F5"/>
                </a:solidFill>
              </a:rPr>
              <a:t>From “Hey Jarvis” to a spoken answer, all on the Raspberry Pi 5</a:t>
            </a:r>
            <a:endParaRPr lang="en-US" sz="1100" dirty="0">
              <a:solidFill>
                <a:srgbClr val="F4F4F5"/>
              </a:solidFill>
            </a:endParaRPr>
          </a:p>
        </p:txBody>
      </p:sp>
      <p:sp>
        <p:nvSpPr>
          <p:cNvPr id="4" name="Stage 1 box"/>
          <p:cNvSpPr/>
          <p:nvPr/>
        </p:nvSpPr>
        <p:spPr>
          <a:xfrm>
            <a:off x="365760" y="1097280"/>
            <a:ext cx="1463040" cy="1691640"/>
          </a:xfrm>
          <a:prstGeom prst="roundRect">
            <a:avLst>
              <a:gd name="adj" fmla="val 7500"/>
            </a:avLst>
          </a:prstGeom>
          <a:solidFill>
            <a:srgbClr val="1A1A1F"/>
          </a:solidFill>
          <a:ln w="12700">
            <a:solidFill>
              <a:srgbClr val="FF6A2B"/>
            </a:solidFill>
            <a:prstDash val="solid"/>
          </a:ln>
        </p:spPr>
      </p:sp>
      <p:sp>
        <p:nvSpPr>
          <p:cNvPr id="5" name="Stage 1 icon circle"/>
          <p:cNvSpPr/>
          <p:nvPr/>
        </p:nvSpPr>
        <p:spPr>
          <a:xfrm>
            <a:off x="822960" y="1261872"/>
            <a:ext cx="548640" cy="548640"/>
          </a:xfrm>
          <a:prstGeom prst="ellipse">
            <a:avLst/>
          </a:prstGeom>
          <a:solidFill>
            <a:srgbClr val="FF5F1F"/>
          </a:solidFill>
          <a:ln w="12700">
            <a:solidFill>
              <a:srgbClr val="FF6A2B"/>
            </a:solidFill>
            <a:prstDash val="solid"/>
          </a:ln>
        </p:spPr>
      </p:sp>
      <p:pic>
        <p:nvPicPr>
          <p:cNvPr id="6" name="Stage 1 icon" descr="1  Listen"/>
          <p:cNvPicPr>
            <a:picLocks noChangeAspect="1"/>
          </p:cNvPicPr>
          <p:nvPr/>
        </p:nvPicPr>
        <p:blipFill>
          <a:blip r:embed="rId3"/>
          <a:stretch>
            <a:fillRect/>
          </a:stretch>
        </p:blipFill>
        <p:spPr>
          <a:xfrm>
            <a:off x="941832" y="1380744"/>
            <a:ext cx="310896" cy="310896"/>
          </a:xfrm>
          <a:prstGeom prst="rect">
            <a:avLst/>
          </a:prstGeom>
        </p:spPr>
      </p:pic>
      <p:sp>
        <p:nvSpPr>
          <p:cNvPr id="7" name="Stage 1 title"/>
          <p:cNvSpPr txBox="1"/>
          <p:nvPr/>
        </p:nvSpPr>
        <p:spPr>
          <a:xfrm>
            <a:off x="438912" y="1883664"/>
            <a:ext cx="1316736" cy="274320"/>
          </a:xfrm>
          <a:prstGeom prst="rect">
            <a:avLst/>
          </a:prstGeom>
          <a:noFill/>
          <a:ln/>
        </p:spPr>
        <p:txBody>
          <a:bodyPr wrap="square" lIns="0" tIns="0" rIns="0" bIns="0" rtlCol="0" anchor="ctr"/>
          <a:lstStyle/>
          <a:p>
            <a:pPr marL="0" indent="0" algn="ctr">
              <a:buNone/>
            </a:pPr>
            <a:r>
              <a:rPr lang="en-US" sz="1200" b="1" dirty="0">
                <a:solidFill>
                  <a:srgbClr val="FF6A2B"/>
                </a:solidFill>
              </a:rPr>
              <a:t>1  Listen</a:t>
            </a:r>
            <a:endParaRPr lang="en-US" sz="1200" dirty="0">
              <a:solidFill>
                <a:srgbClr val="F4F4F5"/>
              </a:solidFill>
            </a:endParaRPr>
          </a:p>
        </p:txBody>
      </p:sp>
      <p:sp>
        <p:nvSpPr>
          <p:cNvPr id="8" name="Stage 1 text"/>
          <p:cNvSpPr txBox="1"/>
          <p:nvPr/>
        </p:nvSpPr>
        <p:spPr>
          <a:xfrm>
            <a:off x="438912" y="2176272"/>
            <a:ext cx="1316736" cy="685800"/>
          </a:xfrm>
          <a:prstGeom prst="rect">
            <a:avLst/>
          </a:prstGeom>
          <a:noFill/>
          <a:ln/>
        </p:spPr>
        <p:txBody>
          <a:bodyPr wrap="square" lIns="0" tIns="0" rIns="0" bIns="0" rtlCol="0" anchor="t"/>
          <a:lstStyle/>
          <a:p>
            <a:pPr marL="0" indent="0" algn="ctr">
              <a:buNone/>
            </a:pPr>
            <a:r>
              <a:rPr lang="en-US" sz="900" dirty="0">
                <a:solidFill>
                  <a:srgbClr val="F4F4F5"/>
                </a:solidFill>
              </a:rPr>
              <a:t>Mic + mute switch</a:t>
            </a:r>
            <a:endParaRPr lang="en-US" sz="900" dirty="0">
              <a:solidFill>
                <a:srgbClr val="F4F4F5"/>
              </a:solidFill>
            </a:endParaRPr>
          </a:p>
          <a:p>
            <a:pPr marL="0" indent="0" algn="ctr">
              <a:buNone/>
            </a:pPr>
            <a:r>
              <a:rPr lang="en-US" sz="900" dirty="0">
                <a:solidFill>
                  <a:srgbClr val="F4F4F5"/>
                </a:solidFill>
              </a:rPr>
              <a:t>“Hey Jarvis” wakes it</a:t>
            </a:r>
            <a:endParaRPr lang="en-US" sz="900" dirty="0">
              <a:solidFill>
                <a:srgbClr val="F4F4F5"/>
              </a:solidFill>
            </a:endParaRPr>
          </a:p>
          <a:p>
            <a:pPr marL="0" indent="0" algn="ctr">
              <a:buNone/>
            </a:pPr>
            <a:r>
              <a:rPr lang="en-US" sz="900" dirty="0">
                <a:solidFill>
                  <a:srgbClr val="F4F4F5"/>
                </a:solidFill>
              </a:rPr>
              <a:t>Green LED on</a:t>
            </a:r>
            <a:endParaRPr lang="en-US" sz="900" dirty="0">
              <a:solidFill>
                <a:srgbClr val="F4F4F5"/>
              </a:solidFill>
            </a:endParaRPr>
          </a:p>
        </p:txBody>
      </p:sp>
      <p:sp>
        <p:nvSpPr>
          <p:cNvPr id="9" name="Arrow 1"/>
          <p:cNvSpPr/>
          <p:nvPr/>
        </p:nvSpPr>
        <p:spPr>
          <a:xfrm>
            <a:off x="1828800" y="1943100"/>
            <a:ext cx="274320" cy="914"/>
          </a:xfrm>
          <a:prstGeom prst="line">
            <a:avLst/>
          </a:prstGeom>
          <a:noFill/>
          <a:ln w="22225">
            <a:solidFill>
              <a:srgbClr val="FF6A2B"/>
            </a:solidFill>
            <a:prstDash val="solid"/>
            <a:tailEnd type="triangle"/>
          </a:ln>
        </p:spPr>
      </p:sp>
      <p:sp>
        <p:nvSpPr>
          <p:cNvPr id="10" name="Stage 2 box"/>
          <p:cNvSpPr/>
          <p:nvPr/>
        </p:nvSpPr>
        <p:spPr>
          <a:xfrm>
            <a:off x="2103120" y="1097280"/>
            <a:ext cx="1463040" cy="1691640"/>
          </a:xfrm>
          <a:prstGeom prst="roundRect">
            <a:avLst>
              <a:gd name="adj" fmla="val 7500"/>
            </a:avLst>
          </a:prstGeom>
          <a:solidFill>
            <a:srgbClr val="1A1A1F"/>
          </a:solidFill>
          <a:ln w="12700">
            <a:solidFill>
              <a:srgbClr val="FF6A2B"/>
            </a:solidFill>
            <a:prstDash val="solid"/>
          </a:ln>
        </p:spPr>
      </p:sp>
      <p:sp>
        <p:nvSpPr>
          <p:cNvPr id="11" name="Stage 2 icon circle"/>
          <p:cNvSpPr/>
          <p:nvPr/>
        </p:nvSpPr>
        <p:spPr>
          <a:xfrm>
            <a:off x="2560320" y="1261872"/>
            <a:ext cx="548640" cy="548640"/>
          </a:xfrm>
          <a:prstGeom prst="ellipse">
            <a:avLst/>
          </a:prstGeom>
          <a:solidFill>
            <a:srgbClr val="FF5F1F"/>
          </a:solidFill>
          <a:ln w="12700">
            <a:solidFill>
              <a:srgbClr val="FF6A2B"/>
            </a:solidFill>
            <a:prstDash val="solid"/>
          </a:ln>
        </p:spPr>
      </p:sp>
      <p:pic>
        <p:nvPicPr>
          <p:cNvPr id="12" name="Stage 2 icon" descr="2  Understand"/>
          <p:cNvPicPr>
            <a:picLocks noChangeAspect="1"/>
          </p:cNvPicPr>
          <p:nvPr/>
        </p:nvPicPr>
        <p:blipFill>
          <a:blip r:embed="rId4"/>
          <a:stretch>
            <a:fillRect/>
          </a:stretch>
        </p:blipFill>
        <p:spPr>
          <a:xfrm>
            <a:off x="2679192" y="1380744"/>
            <a:ext cx="310896" cy="310896"/>
          </a:xfrm>
          <a:prstGeom prst="rect">
            <a:avLst/>
          </a:prstGeom>
        </p:spPr>
      </p:pic>
      <p:sp>
        <p:nvSpPr>
          <p:cNvPr id="13" name="Stage 2 title"/>
          <p:cNvSpPr txBox="1"/>
          <p:nvPr/>
        </p:nvSpPr>
        <p:spPr>
          <a:xfrm>
            <a:off x="2176272" y="1883664"/>
            <a:ext cx="1316736" cy="274320"/>
          </a:xfrm>
          <a:prstGeom prst="rect">
            <a:avLst/>
          </a:prstGeom>
          <a:noFill/>
          <a:ln/>
        </p:spPr>
        <p:txBody>
          <a:bodyPr wrap="square" lIns="0" tIns="0" rIns="0" bIns="0" rtlCol="0" anchor="ctr"/>
          <a:lstStyle/>
          <a:p>
            <a:pPr marL="0" indent="0" algn="ctr">
              <a:buNone/>
            </a:pPr>
            <a:r>
              <a:rPr lang="en-US" sz="1200" b="1" dirty="0">
                <a:solidFill>
                  <a:srgbClr val="FF6A2B"/>
                </a:solidFill>
              </a:rPr>
              <a:t>2  Understand</a:t>
            </a:r>
            <a:endParaRPr lang="en-US" sz="1200" dirty="0">
              <a:solidFill>
                <a:srgbClr val="F4F4F5"/>
              </a:solidFill>
            </a:endParaRPr>
          </a:p>
        </p:txBody>
      </p:sp>
      <p:sp>
        <p:nvSpPr>
          <p:cNvPr id="14" name="Stage 2 text"/>
          <p:cNvSpPr txBox="1"/>
          <p:nvPr/>
        </p:nvSpPr>
        <p:spPr>
          <a:xfrm>
            <a:off x="2176272" y="2176272"/>
            <a:ext cx="1316736" cy="685800"/>
          </a:xfrm>
          <a:prstGeom prst="rect">
            <a:avLst/>
          </a:prstGeom>
          <a:noFill/>
          <a:ln/>
        </p:spPr>
        <p:txBody>
          <a:bodyPr wrap="square" lIns="0" tIns="0" rIns="0" bIns="0" rtlCol="0" anchor="t"/>
          <a:lstStyle/>
          <a:p>
            <a:pPr marL="0" indent="0" algn="ctr">
              <a:buNone/>
            </a:pPr>
            <a:r>
              <a:rPr lang="en-US" sz="900" dirty="0">
                <a:solidFill>
                  <a:srgbClr val="F4F4F5"/>
                </a:solidFill>
              </a:rPr>
              <a:t>Whisper turns speech</a:t>
            </a:r>
            <a:endParaRPr lang="en-US" sz="900" dirty="0">
              <a:solidFill>
                <a:srgbClr val="F4F4F5"/>
              </a:solidFill>
            </a:endParaRPr>
          </a:p>
          <a:p>
            <a:pPr marL="0" indent="0" algn="ctr">
              <a:buNone/>
            </a:pPr>
            <a:r>
              <a:rPr lang="en-US" sz="900" dirty="0">
                <a:solidFill>
                  <a:srgbClr val="F4F4F5"/>
                </a:solidFill>
              </a:rPr>
              <a:t>into text</a:t>
            </a:r>
            <a:endParaRPr lang="en-US" sz="900" dirty="0">
              <a:solidFill>
                <a:srgbClr val="F4F4F5"/>
              </a:solidFill>
            </a:endParaRPr>
          </a:p>
          <a:p>
            <a:pPr marL="0" indent="0" algn="ctr">
              <a:buNone/>
            </a:pPr>
            <a:r>
              <a:rPr lang="en-US" sz="900" dirty="0">
                <a:solidFill>
                  <a:srgbClr val="F4F4F5"/>
                </a:solidFill>
              </a:rPr>
              <a:t>Fixes mishearings</a:t>
            </a:r>
            <a:endParaRPr lang="en-US" sz="900" dirty="0">
              <a:solidFill>
                <a:srgbClr val="F4F4F5"/>
              </a:solidFill>
            </a:endParaRPr>
          </a:p>
        </p:txBody>
      </p:sp>
      <p:sp>
        <p:nvSpPr>
          <p:cNvPr id="15" name="Arrow 2"/>
          <p:cNvSpPr/>
          <p:nvPr/>
        </p:nvSpPr>
        <p:spPr>
          <a:xfrm>
            <a:off x="3566160" y="1943100"/>
            <a:ext cx="274320" cy="914"/>
          </a:xfrm>
          <a:prstGeom prst="line">
            <a:avLst/>
          </a:prstGeom>
          <a:noFill/>
          <a:ln w="22225">
            <a:solidFill>
              <a:srgbClr val="FF6A2B"/>
            </a:solidFill>
            <a:prstDash val="solid"/>
            <a:tailEnd type="triangle"/>
          </a:ln>
        </p:spPr>
      </p:sp>
      <p:sp>
        <p:nvSpPr>
          <p:cNvPr id="16" name="Stage 3 box"/>
          <p:cNvSpPr/>
          <p:nvPr/>
        </p:nvSpPr>
        <p:spPr>
          <a:xfrm>
            <a:off x="3840480" y="1097280"/>
            <a:ext cx="1463040" cy="1691640"/>
          </a:xfrm>
          <a:prstGeom prst="roundRect">
            <a:avLst>
              <a:gd name="adj" fmla="val 7500"/>
            </a:avLst>
          </a:prstGeom>
          <a:solidFill>
            <a:srgbClr val="FF5F1F"/>
          </a:solidFill>
          <a:ln w="12700">
            <a:solidFill>
              <a:srgbClr val="FF6A2B"/>
            </a:solidFill>
            <a:prstDash val="solid"/>
          </a:ln>
        </p:spPr>
      </p:sp>
      <p:sp>
        <p:nvSpPr>
          <p:cNvPr id="17" name="Stage 3 icon circle"/>
          <p:cNvSpPr/>
          <p:nvPr/>
        </p:nvSpPr>
        <p:spPr>
          <a:xfrm>
            <a:off x="4297680" y="1261872"/>
            <a:ext cx="548640" cy="548640"/>
          </a:xfrm>
          <a:prstGeom prst="ellipse">
            <a:avLst/>
          </a:prstGeom>
          <a:solidFill>
            <a:srgbClr val="1A1A1F"/>
          </a:solidFill>
          <a:ln w="12700">
            <a:solidFill>
              <a:srgbClr val="2C2C33"/>
            </a:solidFill>
            <a:prstDash val="solid"/>
          </a:ln>
        </p:spPr>
      </p:sp>
      <p:pic>
        <p:nvPicPr>
          <p:cNvPr id="18" name="Stage 3 icon" descr="3  Decide"/>
          <p:cNvPicPr>
            <a:picLocks noChangeAspect="1"/>
          </p:cNvPicPr>
          <p:nvPr/>
        </p:nvPicPr>
        <p:blipFill>
          <a:blip r:embed="rId5"/>
          <a:stretch>
            <a:fillRect/>
          </a:stretch>
        </p:blipFill>
        <p:spPr>
          <a:xfrm>
            <a:off x="4416552" y="1380744"/>
            <a:ext cx="310896" cy="310896"/>
          </a:xfrm>
          <a:prstGeom prst="rect">
            <a:avLst/>
          </a:prstGeom>
        </p:spPr>
      </p:pic>
      <p:sp>
        <p:nvSpPr>
          <p:cNvPr id="19" name="Stage 3 title"/>
          <p:cNvSpPr txBox="1"/>
          <p:nvPr/>
        </p:nvSpPr>
        <p:spPr>
          <a:xfrm>
            <a:off x="3913632" y="1883664"/>
            <a:ext cx="1316736" cy="274320"/>
          </a:xfrm>
          <a:prstGeom prst="rect">
            <a:avLst/>
          </a:prstGeom>
          <a:noFill/>
          <a:ln/>
        </p:spPr>
        <p:txBody>
          <a:bodyPr wrap="square" lIns="0" tIns="0" rIns="0" bIns="0" rtlCol="0" anchor="ctr"/>
          <a:lstStyle/>
          <a:p>
            <a:pPr marL="0" indent="0" algn="ctr">
              <a:buNone/>
            </a:pPr>
            <a:r>
              <a:rPr lang="en-US" sz="1200" b="1" dirty="0">
                <a:solidFill>
                  <a:srgbClr val="FFFFFF"/>
                </a:solidFill>
              </a:rPr>
              <a:t>3  Decide</a:t>
            </a:r>
            <a:endParaRPr lang="en-US" sz="1200" dirty="0">
              <a:solidFill>
                <a:srgbClr val="F4F4F5"/>
              </a:solidFill>
            </a:endParaRPr>
          </a:p>
        </p:txBody>
      </p:sp>
      <p:sp>
        <p:nvSpPr>
          <p:cNvPr id="20" name="Stage 3 text"/>
          <p:cNvSpPr txBox="1"/>
          <p:nvPr/>
        </p:nvSpPr>
        <p:spPr>
          <a:xfrm>
            <a:off x="3913632" y="2176272"/>
            <a:ext cx="1316736" cy="685800"/>
          </a:xfrm>
          <a:prstGeom prst="rect">
            <a:avLst/>
          </a:prstGeom>
          <a:noFill/>
          <a:ln/>
        </p:spPr>
        <p:txBody>
          <a:bodyPr wrap="square" lIns="0" tIns="0" rIns="0" bIns="0" rtlCol="0" anchor="t"/>
          <a:lstStyle/>
          <a:p>
            <a:pPr marL="0" indent="0" algn="ctr">
              <a:buNone/>
            </a:pPr>
            <a:r>
              <a:rPr lang="en-US" sz="900" dirty="0">
                <a:solidFill>
                  <a:srgbClr val="FFFFFF"/>
                </a:solidFill>
              </a:rPr>
              <a:t>Safety first, then code,</a:t>
            </a:r>
            <a:endParaRPr lang="en-US" sz="900" dirty="0">
              <a:solidFill>
                <a:srgbClr val="F4F4F5"/>
              </a:solidFill>
            </a:endParaRPr>
          </a:p>
          <a:p>
            <a:pPr marL="0" indent="0" algn="ctr">
              <a:buNone/>
            </a:pPr>
            <a:r>
              <a:rPr lang="en-US" sz="900" dirty="0">
                <a:solidFill>
                  <a:srgbClr val="FFFFFF"/>
                </a:solidFill>
              </a:rPr>
              <a:t>a tool, then local AI</a:t>
            </a:r>
            <a:endParaRPr lang="en-US" sz="900" dirty="0">
              <a:solidFill>
                <a:srgbClr val="F4F4F5"/>
              </a:solidFill>
            </a:endParaRPr>
          </a:p>
          <a:p>
            <a:pPr marL="0" indent="0" algn="ctr">
              <a:buNone/>
            </a:pPr>
            <a:r>
              <a:rPr lang="en-US" sz="900" dirty="0">
                <a:solidFill>
                  <a:srgbClr val="FFFFFF"/>
                </a:solidFill>
              </a:rPr>
              <a:t>(Qwen 2.5)</a:t>
            </a:r>
            <a:endParaRPr lang="en-US" sz="900" dirty="0">
              <a:solidFill>
                <a:srgbClr val="F4F4F5"/>
              </a:solidFill>
            </a:endParaRPr>
          </a:p>
        </p:txBody>
      </p:sp>
      <p:sp>
        <p:nvSpPr>
          <p:cNvPr id="21" name="Arrow 3"/>
          <p:cNvSpPr/>
          <p:nvPr/>
        </p:nvSpPr>
        <p:spPr>
          <a:xfrm>
            <a:off x="5303520" y="1943100"/>
            <a:ext cx="274320" cy="914"/>
          </a:xfrm>
          <a:prstGeom prst="line">
            <a:avLst/>
          </a:prstGeom>
          <a:noFill/>
          <a:ln w="22225">
            <a:solidFill>
              <a:srgbClr val="FF6A2B"/>
            </a:solidFill>
            <a:prstDash val="solid"/>
            <a:tailEnd type="triangle"/>
          </a:ln>
        </p:spPr>
      </p:sp>
      <p:sp>
        <p:nvSpPr>
          <p:cNvPr id="22" name="Stage 4 box"/>
          <p:cNvSpPr/>
          <p:nvPr/>
        </p:nvSpPr>
        <p:spPr>
          <a:xfrm>
            <a:off x="5577840" y="1097280"/>
            <a:ext cx="1463040" cy="1691640"/>
          </a:xfrm>
          <a:prstGeom prst="roundRect">
            <a:avLst>
              <a:gd name="adj" fmla="val 7500"/>
            </a:avLst>
          </a:prstGeom>
          <a:solidFill>
            <a:srgbClr val="1A1A1F"/>
          </a:solidFill>
          <a:ln w="12700">
            <a:solidFill>
              <a:srgbClr val="FF6A2B"/>
            </a:solidFill>
            <a:prstDash val="solid"/>
          </a:ln>
        </p:spPr>
      </p:sp>
      <p:sp>
        <p:nvSpPr>
          <p:cNvPr id="23" name="Stage 4 icon circle"/>
          <p:cNvSpPr/>
          <p:nvPr/>
        </p:nvSpPr>
        <p:spPr>
          <a:xfrm>
            <a:off x="6035040" y="1261872"/>
            <a:ext cx="548640" cy="548640"/>
          </a:xfrm>
          <a:prstGeom prst="ellipse">
            <a:avLst/>
          </a:prstGeom>
          <a:solidFill>
            <a:srgbClr val="FF5F1F"/>
          </a:solidFill>
          <a:ln w="12700">
            <a:solidFill>
              <a:srgbClr val="FF6A2B"/>
            </a:solidFill>
            <a:prstDash val="solid"/>
          </a:ln>
        </p:spPr>
      </p:sp>
      <p:pic>
        <p:nvPicPr>
          <p:cNvPr id="24" name="Stage 4 icon" descr="4  Check"/>
          <p:cNvPicPr>
            <a:picLocks noChangeAspect="1"/>
          </p:cNvPicPr>
          <p:nvPr/>
        </p:nvPicPr>
        <p:blipFill>
          <a:blip r:embed="rId6"/>
          <a:stretch>
            <a:fillRect/>
          </a:stretch>
        </p:blipFill>
        <p:spPr>
          <a:xfrm>
            <a:off x="6153912" y="1380744"/>
            <a:ext cx="310896" cy="310896"/>
          </a:xfrm>
          <a:prstGeom prst="rect">
            <a:avLst/>
          </a:prstGeom>
        </p:spPr>
      </p:pic>
      <p:sp>
        <p:nvSpPr>
          <p:cNvPr id="25" name="Stage 4 title"/>
          <p:cNvSpPr txBox="1"/>
          <p:nvPr/>
        </p:nvSpPr>
        <p:spPr>
          <a:xfrm>
            <a:off x="5650992" y="1883664"/>
            <a:ext cx="1316736" cy="274320"/>
          </a:xfrm>
          <a:prstGeom prst="rect">
            <a:avLst/>
          </a:prstGeom>
          <a:noFill/>
          <a:ln/>
        </p:spPr>
        <p:txBody>
          <a:bodyPr wrap="square" lIns="0" tIns="0" rIns="0" bIns="0" rtlCol="0" anchor="ctr"/>
          <a:lstStyle/>
          <a:p>
            <a:pPr marL="0" indent="0" algn="ctr">
              <a:buNone/>
            </a:pPr>
            <a:r>
              <a:rPr lang="en-US" sz="1200" b="1" dirty="0">
                <a:solidFill>
                  <a:srgbClr val="FF6A2B"/>
                </a:solidFill>
              </a:rPr>
              <a:t>4  Check</a:t>
            </a:r>
            <a:endParaRPr lang="en-US" sz="1200" dirty="0">
              <a:solidFill>
                <a:srgbClr val="F4F4F5"/>
              </a:solidFill>
            </a:endParaRPr>
          </a:p>
        </p:txBody>
      </p:sp>
      <p:sp>
        <p:nvSpPr>
          <p:cNvPr id="26" name="Stage 4 text"/>
          <p:cNvSpPr txBox="1"/>
          <p:nvPr/>
        </p:nvSpPr>
        <p:spPr>
          <a:xfrm>
            <a:off x="5650992" y="2176272"/>
            <a:ext cx="1316736" cy="685800"/>
          </a:xfrm>
          <a:prstGeom prst="rect">
            <a:avLst/>
          </a:prstGeom>
          <a:noFill/>
          <a:ln/>
        </p:spPr>
        <p:txBody>
          <a:bodyPr wrap="square" lIns="0" tIns="0" rIns="0" bIns="0" rtlCol="0" anchor="t"/>
          <a:lstStyle/>
          <a:p>
            <a:pPr marL="0" indent="0" algn="ctr">
              <a:buNone/>
            </a:pPr>
            <a:r>
              <a:rPr lang="en-US" sz="900" dirty="0">
                <a:solidFill>
                  <a:srgbClr val="F4F4F5"/>
                </a:solidFill>
              </a:rPr>
              <a:t>Confidence ≥ 0.85</a:t>
            </a:r>
            <a:endParaRPr lang="en-US" sz="900" dirty="0">
              <a:solidFill>
                <a:srgbClr val="F4F4F5"/>
              </a:solidFill>
            </a:endParaRPr>
          </a:p>
          <a:p>
            <a:pPr marL="0" indent="0" algn="ctr">
              <a:buNone/>
            </a:pPr>
            <a:r>
              <a:rPr lang="en-US" sz="900" dirty="0">
                <a:solidFill>
                  <a:srgbClr val="F4F4F5"/>
                </a:solidFill>
              </a:rPr>
              <a:t>No guesses about you</a:t>
            </a:r>
            <a:endParaRPr lang="en-US" sz="900" dirty="0">
              <a:solidFill>
                <a:srgbClr val="F4F4F5"/>
              </a:solidFill>
            </a:endParaRPr>
          </a:p>
          <a:p>
            <a:pPr marL="0" indent="0" algn="ctr">
              <a:buNone/>
            </a:pPr>
            <a:r>
              <a:rPr lang="en-US" sz="900" dirty="0">
                <a:solidFill>
                  <a:srgbClr val="F4F4F5"/>
                </a:solidFill>
              </a:rPr>
              <a:t>No false claims</a:t>
            </a:r>
            <a:endParaRPr lang="en-US" sz="900" dirty="0">
              <a:solidFill>
                <a:srgbClr val="F4F4F5"/>
              </a:solidFill>
            </a:endParaRPr>
          </a:p>
        </p:txBody>
      </p:sp>
      <p:sp>
        <p:nvSpPr>
          <p:cNvPr id="27" name="Arrow 4"/>
          <p:cNvSpPr/>
          <p:nvPr/>
        </p:nvSpPr>
        <p:spPr>
          <a:xfrm>
            <a:off x="7040880" y="1943100"/>
            <a:ext cx="274320" cy="914"/>
          </a:xfrm>
          <a:prstGeom prst="line">
            <a:avLst/>
          </a:prstGeom>
          <a:noFill/>
          <a:ln w="22225">
            <a:solidFill>
              <a:srgbClr val="FF6A2B"/>
            </a:solidFill>
            <a:prstDash val="solid"/>
            <a:tailEnd type="triangle"/>
          </a:ln>
        </p:spPr>
      </p:sp>
      <p:sp>
        <p:nvSpPr>
          <p:cNvPr id="28" name="Stage 5 box"/>
          <p:cNvSpPr/>
          <p:nvPr/>
        </p:nvSpPr>
        <p:spPr>
          <a:xfrm>
            <a:off x="7315200" y="1097280"/>
            <a:ext cx="1463040" cy="1691640"/>
          </a:xfrm>
          <a:prstGeom prst="roundRect">
            <a:avLst>
              <a:gd name="adj" fmla="val 7500"/>
            </a:avLst>
          </a:prstGeom>
          <a:solidFill>
            <a:srgbClr val="1A1A1F"/>
          </a:solidFill>
          <a:ln w="12700">
            <a:solidFill>
              <a:srgbClr val="FF6A2B"/>
            </a:solidFill>
            <a:prstDash val="solid"/>
          </a:ln>
        </p:spPr>
      </p:sp>
      <p:sp>
        <p:nvSpPr>
          <p:cNvPr id="29" name="Stage 5 icon circle"/>
          <p:cNvSpPr/>
          <p:nvPr/>
        </p:nvSpPr>
        <p:spPr>
          <a:xfrm>
            <a:off x="7772400" y="1261872"/>
            <a:ext cx="548640" cy="548640"/>
          </a:xfrm>
          <a:prstGeom prst="ellipse">
            <a:avLst/>
          </a:prstGeom>
          <a:solidFill>
            <a:srgbClr val="FF5F1F"/>
          </a:solidFill>
          <a:ln w="12700">
            <a:solidFill>
              <a:srgbClr val="FF6A2B"/>
            </a:solidFill>
            <a:prstDash val="solid"/>
          </a:ln>
        </p:spPr>
      </p:sp>
      <p:pic>
        <p:nvPicPr>
          <p:cNvPr id="30" name="Stage 5 icon" descr="5  Respond"/>
          <p:cNvPicPr>
            <a:picLocks noChangeAspect="1"/>
          </p:cNvPicPr>
          <p:nvPr/>
        </p:nvPicPr>
        <p:blipFill>
          <a:blip r:embed="rId7"/>
          <a:stretch>
            <a:fillRect/>
          </a:stretch>
        </p:blipFill>
        <p:spPr>
          <a:xfrm>
            <a:off x="7891272" y="1380744"/>
            <a:ext cx="310896" cy="310896"/>
          </a:xfrm>
          <a:prstGeom prst="rect">
            <a:avLst/>
          </a:prstGeom>
        </p:spPr>
      </p:pic>
      <p:sp>
        <p:nvSpPr>
          <p:cNvPr id="31" name="Stage 5 title"/>
          <p:cNvSpPr txBox="1"/>
          <p:nvPr/>
        </p:nvSpPr>
        <p:spPr>
          <a:xfrm>
            <a:off x="7388352" y="1883664"/>
            <a:ext cx="1316736" cy="274320"/>
          </a:xfrm>
          <a:prstGeom prst="rect">
            <a:avLst/>
          </a:prstGeom>
          <a:noFill/>
          <a:ln/>
        </p:spPr>
        <p:txBody>
          <a:bodyPr wrap="square" lIns="0" tIns="0" rIns="0" bIns="0" rtlCol="0" anchor="ctr"/>
          <a:lstStyle/>
          <a:p>
            <a:pPr marL="0" indent="0" algn="ctr">
              <a:buNone/>
            </a:pPr>
            <a:r>
              <a:rPr lang="en-US" sz="1200" b="1" dirty="0">
                <a:solidFill>
                  <a:srgbClr val="FF6A2B"/>
                </a:solidFill>
              </a:rPr>
              <a:t>5  Respond</a:t>
            </a:r>
            <a:endParaRPr lang="en-US" sz="1200" dirty="0">
              <a:solidFill>
                <a:srgbClr val="F4F4F5"/>
              </a:solidFill>
            </a:endParaRPr>
          </a:p>
        </p:txBody>
      </p:sp>
      <p:sp>
        <p:nvSpPr>
          <p:cNvPr id="32" name="Stage 5 text"/>
          <p:cNvSpPr txBox="1"/>
          <p:nvPr/>
        </p:nvSpPr>
        <p:spPr>
          <a:xfrm>
            <a:off x="7388352" y="2176272"/>
            <a:ext cx="1316736" cy="685800"/>
          </a:xfrm>
          <a:prstGeom prst="rect">
            <a:avLst/>
          </a:prstGeom>
          <a:noFill/>
          <a:ln/>
        </p:spPr>
        <p:txBody>
          <a:bodyPr wrap="square" lIns="0" tIns="0" rIns="0" bIns="0" rtlCol="0" anchor="t"/>
          <a:lstStyle/>
          <a:p>
            <a:pPr marL="0" indent="0" algn="ctr">
              <a:buNone/>
            </a:pPr>
            <a:r>
              <a:rPr lang="en-US" sz="900" dirty="0">
                <a:solidFill>
                  <a:srgbClr val="F4F4F5"/>
                </a:solidFill>
              </a:rPr>
              <a:t>Piper speaks</a:t>
            </a:r>
            <a:endParaRPr lang="en-US" sz="900" dirty="0">
              <a:solidFill>
                <a:srgbClr val="F4F4F5"/>
              </a:solidFill>
            </a:endParaRPr>
          </a:p>
          <a:p>
            <a:pPr marL="0" indent="0" algn="ctr">
              <a:buNone/>
            </a:pPr>
            <a:r>
              <a:rPr lang="en-US" sz="900" dirty="0">
                <a:solidFill>
                  <a:srgbClr val="F4F4F5"/>
                </a:solidFill>
              </a:rPr>
              <a:t>Screen shows it</a:t>
            </a:r>
            <a:endParaRPr lang="en-US" sz="900" dirty="0">
              <a:solidFill>
                <a:srgbClr val="F4F4F5"/>
              </a:solidFill>
            </a:endParaRPr>
          </a:p>
        </p:txBody>
      </p:sp>
      <p:sp>
        <p:nvSpPr>
          <p:cNvPr id="33" name="Branch stem"/>
          <p:cNvSpPr/>
          <p:nvPr/>
        </p:nvSpPr>
        <p:spPr>
          <a:xfrm>
            <a:off x="4572000" y="2788920"/>
            <a:ext cx="914" cy="182880"/>
          </a:xfrm>
          <a:prstGeom prst="line">
            <a:avLst/>
          </a:prstGeom>
          <a:noFill/>
          <a:ln w="22225">
            <a:solidFill>
              <a:srgbClr val="FF6A2B"/>
            </a:solidFill>
            <a:prstDash val="solid"/>
          </a:ln>
        </p:spPr>
      </p:sp>
      <p:sp>
        <p:nvSpPr>
          <p:cNvPr id="34" name="Branch bar"/>
          <p:cNvSpPr/>
          <p:nvPr/>
        </p:nvSpPr>
        <p:spPr>
          <a:xfrm>
            <a:off x="3246120" y="2971800"/>
            <a:ext cx="2651760" cy="914"/>
          </a:xfrm>
          <a:prstGeom prst="line">
            <a:avLst/>
          </a:prstGeom>
          <a:noFill/>
          <a:ln w="22225">
            <a:solidFill>
              <a:srgbClr val="FF6A2B"/>
            </a:solidFill>
            <a:prstDash val="solid"/>
          </a:ln>
        </p:spPr>
      </p:sp>
      <p:sp>
        <p:nvSpPr>
          <p:cNvPr id="35" name="Branch to memory"/>
          <p:cNvSpPr/>
          <p:nvPr/>
        </p:nvSpPr>
        <p:spPr>
          <a:xfrm>
            <a:off x="3246120" y="2971800"/>
            <a:ext cx="914" cy="274320"/>
          </a:xfrm>
          <a:prstGeom prst="line">
            <a:avLst/>
          </a:prstGeom>
          <a:noFill/>
          <a:ln w="22225">
            <a:solidFill>
              <a:srgbClr val="FF6A2B"/>
            </a:solidFill>
            <a:prstDash val="solid"/>
            <a:tailEnd type="triangle"/>
          </a:ln>
        </p:spPr>
      </p:sp>
      <p:sp>
        <p:nvSpPr>
          <p:cNvPr id="36" name="Branch to online"/>
          <p:cNvSpPr/>
          <p:nvPr/>
        </p:nvSpPr>
        <p:spPr>
          <a:xfrm>
            <a:off x="5897880" y="2971800"/>
            <a:ext cx="914" cy="274320"/>
          </a:xfrm>
          <a:prstGeom prst="line">
            <a:avLst/>
          </a:prstGeom>
          <a:noFill/>
          <a:ln w="22225">
            <a:solidFill>
              <a:srgbClr val="FF6A2B"/>
            </a:solidFill>
            <a:prstDash val="solid"/>
            <a:tailEnd type="triangle"/>
          </a:ln>
        </p:spPr>
      </p:sp>
      <p:sp>
        <p:nvSpPr>
          <p:cNvPr id="37" name="Memory box"/>
          <p:cNvSpPr/>
          <p:nvPr/>
        </p:nvSpPr>
        <p:spPr>
          <a:xfrm>
            <a:off x="2080260" y="3246120"/>
            <a:ext cx="2331720" cy="658368"/>
          </a:xfrm>
          <a:prstGeom prst="roundRect">
            <a:avLst>
              <a:gd name="adj" fmla="val 13889"/>
            </a:avLst>
          </a:prstGeom>
          <a:solidFill>
            <a:srgbClr val="1A1A1F"/>
          </a:solidFill>
          <a:ln w="12700">
            <a:solidFill>
              <a:srgbClr val="FF6A2B"/>
            </a:solidFill>
            <a:prstDash val="solid"/>
          </a:ln>
        </p:spPr>
      </p:sp>
      <p:sp>
        <p:nvSpPr>
          <p:cNvPr id="38" name="Memory box text"/>
          <p:cNvSpPr txBox="1"/>
          <p:nvPr/>
        </p:nvSpPr>
        <p:spPr>
          <a:xfrm>
            <a:off x="2171700" y="3282696"/>
            <a:ext cx="2148840" cy="585216"/>
          </a:xfrm>
          <a:prstGeom prst="rect">
            <a:avLst/>
          </a:prstGeom>
          <a:noFill/>
          <a:ln/>
        </p:spPr>
        <p:txBody>
          <a:bodyPr wrap="square" lIns="0" tIns="0" rIns="0" bIns="0" rtlCol="0" anchor="ctr"/>
          <a:lstStyle/>
          <a:p>
            <a:pPr marL="0" indent="0" algn="ctr">
              <a:buNone/>
            </a:pPr>
            <a:r>
              <a:rPr lang="en-US" sz="1100" b="1" dirty="0">
                <a:solidFill>
                  <a:srgbClr val="FF6A2B"/>
                </a:solidFill>
              </a:rPr>
              <a:t>Memory (on device)</a:t>
            </a:r>
            <a:endParaRPr lang="en-US" sz="1100" dirty="0">
              <a:solidFill>
                <a:srgbClr val="F4F4F5"/>
              </a:solidFill>
            </a:endParaRPr>
          </a:p>
          <a:p>
            <a:pPr marL="0" indent="0" algn="ctr">
              <a:buNone/>
            </a:pPr>
            <a:r>
              <a:rPr lang="en-US" sz="900" dirty="0">
                <a:solidFill>
                  <a:srgbClr val="F4F4F5"/>
                </a:solidFill>
              </a:rPr>
              <a:t>SQLite: memories, lists, settings</a:t>
            </a:r>
            <a:endParaRPr lang="en-US" sz="1100" dirty="0">
              <a:solidFill>
                <a:srgbClr val="F4F4F5"/>
              </a:solidFill>
            </a:endParaRPr>
          </a:p>
        </p:txBody>
      </p:sp>
      <p:sp>
        <p:nvSpPr>
          <p:cNvPr id="39" name="Online box"/>
          <p:cNvSpPr/>
          <p:nvPr/>
        </p:nvSpPr>
        <p:spPr>
          <a:xfrm>
            <a:off x="4732020" y="3246120"/>
            <a:ext cx="2331720" cy="658368"/>
          </a:xfrm>
          <a:prstGeom prst="roundRect">
            <a:avLst>
              <a:gd name="adj" fmla="val 13889"/>
            </a:avLst>
          </a:prstGeom>
          <a:solidFill>
            <a:srgbClr val="FF5F1F"/>
          </a:solidFill>
          <a:ln w="12700">
            <a:solidFill>
              <a:srgbClr val="FF6A2B"/>
            </a:solidFill>
            <a:prstDash val="solid"/>
          </a:ln>
        </p:spPr>
      </p:sp>
      <p:sp>
        <p:nvSpPr>
          <p:cNvPr id="40" name="Online box text"/>
          <p:cNvSpPr txBox="1"/>
          <p:nvPr/>
        </p:nvSpPr>
        <p:spPr>
          <a:xfrm>
            <a:off x="4823460" y="3282696"/>
            <a:ext cx="2148840" cy="585216"/>
          </a:xfrm>
          <a:prstGeom prst="rect">
            <a:avLst/>
          </a:prstGeom>
          <a:noFill/>
          <a:ln/>
        </p:spPr>
        <p:txBody>
          <a:bodyPr wrap="square" lIns="0" tIns="0" rIns="0" bIns="0" rtlCol="0" anchor="ctr"/>
          <a:lstStyle/>
          <a:p>
            <a:pPr marL="0" indent="0" algn="ctr">
              <a:buNone/>
            </a:pPr>
            <a:r>
              <a:rPr lang="en-US" sz="1100" b="1" dirty="0">
                <a:solidFill>
                  <a:srgbClr val="FFFFFF"/>
                </a:solidFill>
              </a:rPr>
              <a:t>Online, only when you ask</a:t>
            </a:r>
            <a:endParaRPr lang="en-US" sz="1100" dirty="0">
              <a:solidFill>
                <a:srgbClr val="F4F4F5"/>
              </a:solidFill>
            </a:endParaRPr>
          </a:p>
          <a:p>
            <a:pPr marL="0" indent="0" algn="ctr">
              <a:buNone/>
            </a:pPr>
            <a:r>
              <a:rPr lang="en-US" sz="900" dirty="0">
                <a:solidFill>
                  <a:srgbClr val="FFFFFF"/>
                </a:solidFill>
              </a:rPr>
              <a:t>Weather · news · Wikipedia · every call logged</a:t>
            </a:r>
            <a:endParaRPr lang="en-US" sz="1100" dirty="0">
              <a:solidFill>
                <a:srgbClr val="F4F4F5"/>
              </a:solidFill>
            </a:endParaRPr>
          </a:p>
        </p:txBody>
      </p:sp>
      <p:sp>
        <p:nvSpPr>
          <p:cNvPr id="41" name="Privacy banner"/>
          <p:cNvSpPr/>
          <p:nvPr/>
        </p:nvSpPr>
        <p:spPr>
          <a:xfrm>
            <a:off x="365760" y="4297680"/>
            <a:ext cx="8412480" cy="438912"/>
          </a:xfrm>
          <a:prstGeom prst="roundRect">
            <a:avLst>
              <a:gd name="adj" fmla="val 20833"/>
            </a:avLst>
          </a:prstGeom>
          <a:solidFill>
            <a:srgbClr val="1A1A1F"/>
          </a:solidFill>
          <a:ln w="12700">
            <a:solidFill>
              <a:srgbClr val="FF6A2B"/>
            </a:solidFill>
            <a:prstDash val="solid"/>
          </a:ln>
        </p:spPr>
      </p:sp>
      <p:sp>
        <p:nvSpPr>
          <p:cNvPr id="42" name="Privacy banner text"/>
          <p:cNvSpPr txBox="1"/>
          <p:nvPr/>
        </p:nvSpPr>
        <p:spPr>
          <a:xfrm>
            <a:off x="457200" y="4297680"/>
            <a:ext cx="8229600" cy="438912"/>
          </a:xfrm>
          <a:prstGeom prst="rect">
            <a:avLst/>
          </a:prstGeom>
          <a:noFill/>
          <a:ln/>
        </p:spPr>
        <p:txBody>
          <a:bodyPr wrap="square" lIns="0" tIns="0" rIns="0" bIns="0" rtlCol="0" anchor="ctr"/>
          <a:lstStyle/>
          <a:p>
            <a:pPr marL="0" indent="0" algn="ctr">
              <a:buNone/>
            </a:pPr>
            <a:r>
              <a:rPr lang="en-US" sz="1100" b="1" dirty="0">
                <a:solidFill>
                  <a:srgbClr val="FF6A2B"/>
                </a:solidFill>
              </a:rPr>
              <a:t>All AI runs on the device  ·  audio never leaves  ·  every online call is shown on screen</a:t>
            </a:r>
            <a:endParaRPr lang="en-US" sz="1100" dirty="0">
              <a:solidFill>
                <a:srgbClr val="F4F4F5"/>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7F321140-66D7-4B65-C156-FF5C41A1F2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845407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24B88DD-9AE6-26F8-E80D-E38DA2D8BE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720783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E46D897F-0954-4028-210A-32EE418413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827535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6" name="Title"/>
          <p:cNvSpPr txBox="1"/>
          <p:nvPr/>
        </p:nvSpPr>
        <p:spPr>
          <a:xfrm>
            <a:off x="1371600" y="73152"/>
            <a:ext cx="6400800" cy="457200"/>
          </a:xfrm>
          <a:prstGeom prst="rect">
            <a:avLst/>
          </a:prstGeom>
          <a:noFill/>
          <a:ln/>
        </p:spPr>
        <p:txBody>
          <a:bodyPr wrap="square" lIns="0" tIns="0" rIns="0" bIns="0" rtlCol="0" anchor="ctr"/>
          <a:lstStyle/>
          <a:p>
            <a:pPr marL="0" indent="0" algn="ctr">
              <a:buNone/>
            </a:pPr>
            <a:r>
              <a:rPr lang="en-US" sz="2800" b="1" dirty="0">
                <a:solidFill>
                  <a:srgbClr val="F4F4F5"/>
                </a:solidFill>
              </a:rPr>
              <a:t>Requirements Checklist</a:t>
            </a:r>
            <a:endParaRPr lang="en-US" sz="2800" dirty="0">
              <a:solidFill>
                <a:srgbClr val="F4F4F5"/>
              </a:solidFill>
            </a:endParaRPr>
          </a:p>
        </p:txBody>
      </p:sp>
      <p:sp>
        <p:nvSpPr>
          <p:cNvPr id="8" name="Must have card"/>
          <p:cNvSpPr/>
          <p:nvPr/>
        </p:nvSpPr>
        <p:spPr>
          <a:xfrm>
            <a:off x="402336" y="957576"/>
            <a:ext cx="4023360" cy="3749040"/>
          </a:xfrm>
          <a:prstGeom prst="roundRect">
            <a:avLst>
              <a:gd name="adj" fmla="val 2927"/>
            </a:avLst>
          </a:prstGeom>
          <a:solidFill>
            <a:srgbClr val="1A1A1F"/>
          </a:solidFill>
          <a:ln w="12700">
            <a:solidFill>
              <a:srgbClr val="2C2C33"/>
            </a:solidFill>
            <a:prstDash val="solid"/>
          </a:ln>
        </p:spPr>
      </p:sp>
      <p:sp>
        <p:nvSpPr>
          <p:cNvPr id="9" name="Must have header"/>
          <p:cNvSpPr/>
          <p:nvPr/>
        </p:nvSpPr>
        <p:spPr>
          <a:xfrm>
            <a:off x="548640" y="1106424"/>
            <a:ext cx="3749040" cy="402336"/>
          </a:xfrm>
          <a:prstGeom prst="roundRect">
            <a:avLst>
              <a:gd name="adj" fmla="val 22727"/>
            </a:avLst>
          </a:prstGeom>
          <a:solidFill>
            <a:srgbClr val="FF5F1F"/>
          </a:solidFill>
          <a:ln w="12700">
            <a:solidFill>
              <a:srgbClr val="FF6A2B"/>
            </a:solidFill>
            <a:prstDash val="solid"/>
          </a:ln>
        </p:spPr>
      </p:sp>
      <p:sp>
        <p:nvSpPr>
          <p:cNvPr id="10" name="Must have heading"/>
          <p:cNvSpPr txBox="1"/>
          <p:nvPr/>
        </p:nvSpPr>
        <p:spPr>
          <a:xfrm>
            <a:off x="548640" y="1106424"/>
            <a:ext cx="3749040" cy="402336"/>
          </a:xfrm>
          <a:prstGeom prst="rect">
            <a:avLst/>
          </a:prstGeom>
          <a:noFill/>
          <a:ln/>
        </p:spPr>
        <p:txBody>
          <a:bodyPr wrap="square" lIns="0" tIns="0" rIns="0" bIns="0" rtlCol="0" anchor="ctr"/>
          <a:lstStyle/>
          <a:p>
            <a:pPr marL="0" indent="0" algn="ctr">
              <a:buNone/>
            </a:pPr>
            <a:r>
              <a:rPr lang="en-US" sz="1500" b="1" dirty="0">
                <a:solidFill>
                  <a:srgbClr val="FFFFFF"/>
                </a:solidFill>
              </a:rPr>
              <a:t>Must have</a:t>
            </a:r>
            <a:endParaRPr lang="en-US" sz="1500" dirty="0">
              <a:solidFill>
                <a:srgbClr val="F4F4F5"/>
              </a:solidFill>
            </a:endParaRPr>
          </a:p>
        </p:txBody>
      </p:sp>
      <p:sp>
        <p:nvSpPr>
          <p:cNvPr id="11" name="Must have item 1 check"/>
          <p:cNvSpPr/>
          <p:nvPr/>
        </p:nvSpPr>
        <p:spPr>
          <a:xfrm>
            <a:off x="612648" y="1673352"/>
            <a:ext cx="256032" cy="256032"/>
          </a:xfrm>
          <a:prstGeom prst="ellipse">
            <a:avLst/>
          </a:prstGeom>
          <a:solidFill>
            <a:srgbClr val="FF5F1F"/>
          </a:solidFill>
          <a:ln w="15875">
            <a:solidFill>
              <a:srgbClr val="FF6A2B"/>
            </a:solidFill>
            <a:prstDash val="solid"/>
          </a:ln>
        </p:spPr>
      </p:sp>
      <p:sp>
        <p:nvSpPr>
          <p:cNvPr id="12" name="Must have item 1 mark"/>
          <p:cNvSpPr txBox="1"/>
          <p:nvPr/>
        </p:nvSpPr>
        <p:spPr>
          <a:xfrm>
            <a:off x="612648" y="167335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13" name="Must have item 1 text"/>
          <p:cNvSpPr txBox="1"/>
          <p:nvPr/>
        </p:nvSpPr>
        <p:spPr>
          <a:xfrm>
            <a:off x="978408" y="1609344"/>
            <a:ext cx="3291840" cy="384048"/>
          </a:xfrm>
          <a:prstGeom prst="rect">
            <a:avLst/>
          </a:prstGeom>
          <a:noFill/>
          <a:ln/>
        </p:spPr>
        <p:txBody>
          <a:bodyPr wrap="square" lIns="0" tIns="0" rIns="0" bIns="0" rtlCol="0" anchor="ctr"/>
          <a:lstStyle/>
          <a:p>
            <a:pPr marL="0" indent="0">
              <a:buNone/>
            </a:pPr>
            <a:r>
              <a:rPr lang="en-US" sz="1050" dirty="0">
                <a:solidFill>
                  <a:srgbClr val="F4F4F5"/>
                </a:solidFill>
              </a:rPr>
              <a:t>Bot companion on a Raspberry Pi 5</a:t>
            </a:r>
            <a:endParaRPr lang="en-US" sz="1050" dirty="0">
              <a:solidFill>
                <a:srgbClr val="F4F4F5"/>
              </a:solidFill>
            </a:endParaRPr>
          </a:p>
        </p:txBody>
      </p:sp>
      <p:sp>
        <p:nvSpPr>
          <p:cNvPr id="14" name="Must have item 2 check"/>
          <p:cNvSpPr/>
          <p:nvPr/>
        </p:nvSpPr>
        <p:spPr>
          <a:xfrm>
            <a:off x="612648" y="2103120"/>
            <a:ext cx="256032" cy="256032"/>
          </a:xfrm>
          <a:prstGeom prst="ellipse">
            <a:avLst/>
          </a:prstGeom>
          <a:solidFill>
            <a:srgbClr val="FF5F1F"/>
          </a:solidFill>
          <a:ln w="15875">
            <a:solidFill>
              <a:srgbClr val="FF6A2B"/>
            </a:solidFill>
            <a:prstDash val="solid"/>
          </a:ln>
        </p:spPr>
      </p:sp>
      <p:sp>
        <p:nvSpPr>
          <p:cNvPr id="15" name="Must have item 2 mark"/>
          <p:cNvSpPr txBox="1"/>
          <p:nvPr/>
        </p:nvSpPr>
        <p:spPr>
          <a:xfrm>
            <a:off x="612648" y="210312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16" name="Must have item 2 text"/>
          <p:cNvSpPr txBox="1"/>
          <p:nvPr/>
        </p:nvSpPr>
        <p:spPr>
          <a:xfrm>
            <a:off x="978408" y="2039112"/>
            <a:ext cx="3291840" cy="384048"/>
          </a:xfrm>
          <a:prstGeom prst="rect">
            <a:avLst/>
          </a:prstGeom>
          <a:noFill/>
          <a:ln/>
        </p:spPr>
        <p:txBody>
          <a:bodyPr wrap="square" lIns="0" tIns="0" rIns="0" bIns="0" rtlCol="0" anchor="ctr"/>
          <a:lstStyle/>
          <a:p>
            <a:pPr marL="0" indent="0">
              <a:buNone/>
            </a:pPr>
            <a:r>
              <a:rPr lang="en-US" sz="1050" dirty="0">
                <a:solidFill>
                  <a:srgbClr val="F4F4F5"/>
                </a:solidFill>
              </a:rPr>
              <a:t>End-to-end use case with a live demo</a:t>
            </a:r>
            <a:endParaRPr lang="en-US" sz="1050" dirty="0">
              <a:solidFill>
                <a:srgbClr val="F4F4F5"/>
              </a:solidFill>
            </a:endParaRPr>
          </a:p>
        </p:txBody>
      </p:sp>
      <p:sp>
        <p:nvSpPr>
          <p:cNvPr id="17" name="Must have item 3 check"/>
          <p:cNvSpPr/>
          <p:nvPr/>
        </p:nvSpPr>
        <p:spPr>
          <a:xfrm>
            <a:off x="612648" y="2532888"/>
            <a:ext cx="256032" cy="256032"/>
          </a:xfrm>
          <a:prstGeom prst="ellipse">
            <a:avLst/>
          </a:prstGeom>
          <a:solidFill>
            <a:srgbClr val="FF5F1F"/>
          </a:solidFill>
          <a:ln w="15875">
            <a:solidFill>
              <a:srgbClr val="FF6A2B"/>
            </a:solidFill>
            <a:prstDash val="solid"/>
          </a:ln>
        </p:spPr>
      </p:sp>
      <p:sp>
        <p:nvSpPr>
          <p:cNvPr id="18" name="Must have item 3 mark"/>
          <p:cNvSpPr txBox="1"/>
          <p:nvPr/>
        </p:nvSpPr>
        <p:spPr>
          <a:xfrm>
            <a:off x="612648" y="253288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19" name="Must have item 3 text"/>
          <p:cNvSpPr txBox="1"/>
          <p:nvPr/>
        </p:nvSpPr>
        <p:spPr>
          <a:xfrm>
            <a:off x="978408" y="2468880"/>
            <a:ext cx="3291840" cy="384048"/>
          </a:xfrm>
          <a:prstGeom prst="rect">
            <a:avLst/>
          </a:prstGeom>
          <a:noFill/>
          <a:ln/>
        </p:spPr>
        <p:txBody>
          <a:bodyPr wrap="square" lIns="0" tIns="0" rIns="0" bIns="0" rtlCol="0" anchor="ctr"/>
          <a:lstStyle/>
          <a:p>
            <a:pPr marL="0" indent="0">
              <a:buNone/>
            </a:pPr>
            <a:r>
              <a:rPr lang="en-US" sz="1050" dirty="0">
                <a:solidFill>
                  <a:srgbClr val="F4F4F5"/>
                </a:solidFill>
              </a:rPr>
              <a:t>Privacy safeguards ★</a:t>
            </a:r>
            <a:endParaRPr lang="en-US" sz="1050" dirty="0">
              <a:solidFill>
                <a:srgbClr val="F4F4F5"/>
              </a:solidFill>
            </a:endParaRPr>
          </a:p>
        </p:txBody>
      </p:sp>
      <p:sp>
        <p:nvSpPr>
          <p:cNvPr id="20" name="Must have item 4 check"/>
          <p:cNvSpPr/>
          <p:nvPr/>
        </p:nvSpPr>
        <p:spPr>
          <a:xfrm>
            <a:off x="612648" y="2962656"/>
            <a:ext cx="256032" cy="256032"/>
          </a:xfrm>
          <a:prstGeom prst="ellipse">
            <a:avLst/>
          </a:prstGeom>
          <a:solidFill>
            <a:srgbClr val="FF5F1F"/>
          </a:solidFill>
          <a:ln w="15875">
            <a:solidFill>
              <a:srgbClr val="FF6A2B"/>
            </a:solidFill>
            <a:prstDash val="solid"/>
          </a:ln>
        </p:spPr>
      </p:sp>
      <p:sp>
        <p:nvSpPr>
          <p:cNvPr id="21" name="Must have item 4 mark"/>
          <p:cNvSpPr txBox="1"/>
          <p:nvPr/>
        </p:nvSpPr>
        <p:spPr>
          <a:xfrm>
            <a:off x="612648" y="296265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22" name="Must have item 4 text"/>
          <p:cNvSpPr txBox="1"/>
          <p:nvPr/>
        </p:nvSpPr>
        <p:spPr>
          <a:xfrm>
            <a:off x="978408" y="2898648"/>
            <a:ext cx="3291840" cy="384048"/>
          </a:xfrm>
          <a:prstGeom prst="rect">
            <a:avLst/>
          </a:prstGeom>
          <a:noFill/>
          <a:ln/>
        </p:spPr>
        <p:txBody>
          <a:bodyPr wrap="square" lIns="0" tIns="0" rIns="0" bIns="0" rtlCol="0" anchor="ctr"/>
          <a:lstStyle/>
          <a:p>
            <a:pPr marL="0" indent="0">
              <a:buNone/>
            </a:pPr>
            <a:r>
              <a:rPr lang="en-US" sz="1050" dirty="0">
                <a:solidFill>
                  <a:srgbClr val="F4F4F5"/>
                </a:solidFill>
              </a:rPr>
              <a:t>Continuous local audio awareness ★</a:t>
            </a:r>
            <a:endParaRPr lang="en-US" sz="1050" dirty="0">
              <a:solidFill>
                <a:srgbClr val="F4F4F5"/>
              </a:solidFill>
            </a:endParaRPr>
          </a:p>
        </p:txBody>
      </p:sp>
      <p:sp>
        <p:nvSpPr>
          <p:cNvPr id="23" name="Must have item 5 check"/>
          <p:cNvSpPr/>
          <p:nvPr/>
        </p:nvSpPr>
        <p:spPr>
          <a:xfrm>
            <a:off x="612648" y="3392424"/>
            <a:ext cx="256032" cy="256032"/>
          </a:xfrm>
          <a:prstGeom prst="ellipse">
            <a:avLst/>
          </a:prstGeom>
          <a:solidFill>
            <a:srgbClr val="FF5F1F"/>
          </a:solidFill>
          <a:ln w="15875">
            <a:solidFill>
              <a:srgbClr val="FF6A2B"/>
            </a:solidFill>
            <a:prstDash val="solid"/>
          </a:ln>
        </p:spPr>
      </p:sp>
      <p:sp>
        <p:nvSpPr>
          <p:cNvPr id="24" name="Must have item 5 mark"/>
          <p:cNvSpPr txBox="1"/>
          <p:nvPr/>
        </p:nvSpPr>
        <p:spPr>
          <a:xfrm>
            <a:off x="612648" y="339242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25" name="Must have item 5 text"/>
          <p:cNvSpPr txBox="1"/>
          <p:nvPr/>
        </p:nvSpPr>
        <p:spPr>
          <a:xfrm>
            <a:off x="978408" y="3328416"/>
            <a:ext cx="3291840" cy="384048"/>
          </a:xfrm>
          <a:prstGeom prst="rect">
            <a:avLst/>
          </a:prstGeom>
          <a:noFill/>
          <a:ln/>
        </p:spPr>
        <p:txBody>
          <a:bodyPr wrap="square" lIns="0" tIns="0" rIns="0" bIns="0" rtlCol="0" anchor="ctr"/>
          <a:lstStyle/>
          <a:p>
            <a:pPr marL="0" indent="0">
              <a:buNone/>
            </a:pPr>
            <a:r>
              <a:rPr lang="en-US" sz="1050" dirty="0">
                <a:solidFill>
                  <a:srgbClr val="F4F4F5"/>
                </a:solidFill>
              </a:rPr>
              <a:t>All AI on-device; online only for live facts ★</a:t>
            </a:r>
            <a:endParaRPr lang="en-US" sz="1050" dirty="0">
              <a:solidFill>
                <a:srgbClr val="F4F4F5"/>
              </a:solidFill>
            </a:endParaRPr>
          </a:p>
        </p:txBody>
      </p:sp>
      <p:sp>
        <p:nvSpPr>
          <p:cNvPr id="26" name="Must have item 6 check"/>
          <p:cNvSpPr/>
          <p:nvPr/>
        </p:nvSpPr>
        <p:spPr>
          <a:xfrm>
            <a:off x="612648" y="3822192"/>
            <a:ext cx="256032" cy="256032"/>
          </a:xfrm>
          <a:prstGeom prst="ellipse">
            <a:avLst/>
          </a:prstGeom>
          <a:solidFill>
            <a:srgbClr val="FF5F1F"/>
          </a:solidFill>
          <a:ln w="15875">
            <a:solidFill>
              <a:srgbClr val="FF6A2B"/>
            </a:solidFill>
            <a:prstDash val="solid"/>
          </a:ln>
        </p:spPr>
      </p:sp>
      <p:sp>
        <p:nvSpPr>
          <p:cNvPr id="27" name="Must have item 6 mark"/>
          <p:cNvSpPr txBox="1"/>
          <p:nvPr/>
        </p:nvSpPr>
        <p:spPr>
          <a:xfrm>
            <a:off x="612648" y="382219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28" name="Must have item 6 text"/>
          <p:cNvSpPr txBox="1"/>
          <p:nvPr/>
        </p:nvSpPr>
        <p:spPr>
          <a:xfrm>
            <a:off x="978408" y="3758184"/>
            <a:ext cx="3291840" cy="384048"/>
          </a:xfrm>
          <a:prstGeom prst="rect">
            <a:avLst/>
          </a:prstGeom>
          <a:noFill/>
          <a:ln/>
        </p:spPr>
        <p:txBody>
          <a:bodyPr wrap="square" lIns="0" tIns="0" rIns="0" bIns="0" rtlCol="0" anchor="ctr"/>
          <a:lstStyle/>
          <a:p>
            <a:pPr marL="0" indent="0">
              <a:buNone/>
            </a:pPr>
            <a:r>
              <a:rPr lang="en-US" sz="1050" dirty="0">
                <a:solidFill>
                  <a:srgbClr val="F4F4F5"/>
                </a:solidFill>
              </a:rPr>
              <a:t>Raw audio never leaves the device</a:t>
            </a:r>
            <a:endParaRPr lang="en-US" sz="1050" dirty="0">
              <a:solidFill>
                <a:srgbClr val="F4F4F5"/>
              </a:solidFill>
            </a:endParaRPr>
          </a:p>
        </p:txBody>
      </p:sp>
      <p:sp>
        <p:nvSpPr>
          <p:cNvPr id="29" name="Must have item 7 check"/>
          <p:cNvSpPr/>
          <p:nvPr/>
        </p:nvSpPr>
        <p:spPr>
          <a:xfrm>
            <a:off x="612648" y="4251960"/>
            <a:ext cx="256032" cy="256032"/>
          </a:xfrm>
          <a:prstGeom prst="ellipse">
            <a:avLst/>
          </a:prstGeom>
          <a:solidFill>
            <a:srgbClr val="FF5F1F"/>
          </a:solidFill>
          <a:ln w="15875">
            <a:solidFill>
              <a:srgbClr val="FF6A2B"/>
            </a:solidFill>
            <a:prstDash val="solid"/>
          </a:ln>
        </p:spPr>
      </p:sp>
      <p:sp>
        <p:nvSpPr>
          <p:cNvPr id="30" name="Must have item 7 mark"/>
          <p:cNvSpPr txBox="1"/>
          <p:nvPr/>
        </p:nvSpPr>
        <p:spPr>
          <a:xfrm>
            <a:off x="612648" y="425196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31" name="Must have item 7 text"/>
          <p:cNvSpPr txBox="1"/>
          <p:nvPr/>
        </p:nvSpPr>
        <p:spPr>
          <a:xfrm>
            <a:off x="978408" y="4187952"/>
            <a:ext cx="3291840" cy="384048"/>
          </a:xfrm>
          <a:prstGeom prst="rect">
            <a:avLst/>
          </a:prstGeom>
          <a:noFill/>
          <a:ln/>
        </p:spPr>
        <p:txBody>
          <a:bodyPr wrap="square" lIns="0" tIns="0" rIns="0" bIns="0" rtlCol="0" anchor="ctr"/>
          <a:lstStyle/>
          <a:p>
            <a:pPr marL="0" indent="0">
              <a:buNone/>
            </a:pPr>
            <a:r>
              <a:rPr lang="en-US" sz="1050" dirty="0">
                <a:solidFill>
                  <a:srgbClr val="F4F4F5"/>
                </a:solidFill>
              </a:rPr>
              <a:t>Listening + muted lights, mute switch</a:t>
            </a:r>
            <a:endParaRPr lang="en-US" sz="1050" dirty="0">
              <a:solidFill>
                <a:srgbClr val="F4F4F5"/>
              </a:solidFill>
            </a:endParaRPr>
          </a:p>
        </p:txBody>
      </p:sp>
      <p:sp>
        <p:nvSpPr>
          <p:cNvPr id="32" name="Good to have card"/>
          <p:cNvSpPr/>
          <p:nvPr/>
        </p:nvSpPr>
        <p:spPr>
          <a:xfrm>
            <a:off x="4709160" y="987552"/>
            <a:ext cx="4023360" cy="3749040"/>
          </a:xfrm>
          <a:prstGeom prst="roundRect">
            <a:avLst>
              <a:gd name="adj" fmla="val 2927"/>
            </a:avLst>
          </a:prstGeom>
          <a:solidFill>
            <a:srgbClr val="1A1A1F"/>
          </a:solidFill>
          <a:ln w="12700">
            <a:solidFill>
              <a:srgbClr val="2C2C33"/>
            </a:solidFill>
            <a:prstDash val="solid"/>
          </a:ln>
        </p:spPr>
      </p:sp>
      <p:sp>
        <p:nvSpPr>
          <p:cNvPr id="33" name="Good to have header"/>
          <p:cNvSpPr/>
          <p:nvPr/>
        </p:nvSpPr>
        <p:spPr>
          <a:xfrm>
            <a:off x="4846320" y="1106424"/>
            <a:ext cx="3749040" cy="402336"/>
          </a:xfrm>
          <a:prstGeom prst="roundRect">
            <a:avLst>
              <a:gd name="adj" fmla="val 22727"/>
            </a:avLst>
          </a:prstGeom>
          <a:solidFill>
            <a:srgbClr val="2A1A14"/>
          </a:solidFill>
          <a:ln w="12700">
            <a:solidFill>
              <a:srgbClr val="4A3026"/>
            </a:solidFill>
            <a:prstDash val="solid"/>
          </a:ln>
        </p:spPr>
      </p:sp>
      <p:sp>
        <p:nvSpPr>
          <p:cNvPr id="34" name="Good to have heading"/>
          <p:cNvSpPr txBox="1"/>
          <p:nvPr/>
        </p:nvSpPr>
        <p:spPr>
          <a:xfrm>
            <a:off x="4846320" y="1106424"/>
            <a:ext cx="3749040" cy="402336"/>
          </a:xfrm>
          <a:prstGeom prst="rect">
            <a:avLst/>
          </a:prstGeom>
          <a:noFill/>
          <a:ln/>
        </p:spPr>
        <p:txBody>
          <a:bodyPr wrap="square" lIns="0" tIns="0" rIns="0" bIns="0" rtlCol="0" anchor="ctr"/>
          <a:lstStyle/>
          <a:p>
            <a:pPr marL="0" indent="0" algn="ctr">
              <a:buNone/>
            </a:pPr>
            <a:r>
              <a:rPr lang="en-US" sz="1500" b="1" dirty="0">
                <a:solidFill>
                  <a:srgbClr val="F4F4F5"/>
                </a:solidFill>
              </a:rPr>
              <a:t>Good to have</a:t>
            </a:r>
            <a:endParaRPr lang="en-US" sz="1500" dirty="0">
              <a:solidFill>
                <a:srgbClr val="F4F4F5"/>
              </a:solidFill>
            </a:endParaRPr>
          </a:p>
        </p:txBody>
      </p:sp>
      <p:sp>
        <p:nvSpPr>
          <p:cNvPr id="35" name="Good to have item 1 check"/>
          <p:cNvSpPr/>
          <p:nvPr/>
        </p:nvSpPr>
        <p:spPr>
          <a:xfrm>
            <a:off x="4910328" y="1673352"/>
            <a:ext cx="256032" cy="256032"/>
          </a:xfrm>
          <a:prstGeom prst="ellipse">
            <a:avLst/>
          </a:prstGeom>
          <a:solidFill>
            <a:srgbClr val="FF5F1F"/>
          </a:solidFill>
          <a:ln w="15875">
            <a:solidFill>
              <a:srgbClr val="FF6A2B"/>
            </a:solidFill>
            <a:prstDash val="solid"/>
          </a:ln>
        </p:spPr>
      </p:sp>
      <p:sp>
        <p:nvSpPr>
          <p:cNvPr id="36" name="Good to have item 1 mark"/>
          <p:cNvSpPr txBox="1"/>
          <p:nvPr/>
        </p:nvSpPr>
        <p:spPr>
          <a:xfrm>
            <a:off x="4910328" y="167335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37" name="Good to have item 1 text"/>
          <p:cNvSpPr txBox="1"/>
          <p:nvPr/>
        </p:nvSpPr>
        <p:spPr>
          <a:xfrm>
            <a:off x="5276088" y="1609344"/>
            <a:ext cx="3291840" cy="384048"/>
          </a:xfrm>
          <a:prstGeom prst="rect">
            <a:avLst/>
          </a:prstGeom>
          <a:noFill/>
          <a:ln/>
        </p:spPr>
        <p:txBody>
          <a:bodyPr wrap="square" lIns="0" tIns="0" rIns="0" bIns="0" rtlCol="0" anchor="ctr"/>
          <a:lstStyle/>
          <a:p>
            <a:pPr marL="0" indent="0">
              <a:buNone/>
            </a:pPr>
            <a:r>
              <a:rPr lang="en-US" sz="1050" dirty="0">
                <a:solidFill>
                  <a:srgbClr val="F4F4F5"/>
                </a:solidFill>
              </a:rPr>
              <a:t>Online look-ups alongside local reasoning</a:t>
            </a:r>
            <a:endParaRPr lang="en-US" sz="1050" dirty="0">
              <a:solidFill>
                <a:srgbClr val="F4F4F5"/>
              </a:solidFill>
            </a:endParaRPr>
          </a:p>
        </p:txBody>
      </p:sp>
      <p:sp>
        <p:nvSpPr>
          <p:cNvPr id="38" name="Good to have item 2 check"/>
          <p:cNvSpPr/>
          <p:nvPr/>
        </p:nvSpPr>
        <p:spPr>
          <a:xfrm>
            <a:off x="4910328" y="2103120"/>
            <a:ext cx="256032" cy="256032"/>
          </a:xfrm>
          <a:prstGeom prst="ellipse">
            <a:avLst/>
          </a:prstGeom>
          <a:solidFill>
            <a:srgbClr val="FF5F1F"/>
          </a:solidFill>
          <a:ln w="15875">
            <a:solidFill>
              <a:srgbClr val="FF6A2B"/>
            </a:solidFill>
            <a:prstDash val="solid"/>
          </a:ln>
        </p:spPr>
      </p:sp>
      <p:sp>
        <p:nvSpPr>
          <p:cNvPr id="39" name="Good to have item 2 mark"/>
          <p:cNvSpPr txBox="1"/>
          <p:nvPr/>
        </p:nvSpPr>
        <p:spPr>
          <a:xfrm>
            <a:off x="4910328" y="210312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40" name="Good to have item 2 text"/>
          <p:cNvSpPr txBox="1"/>
          <p:nvPr/>
        </p:nvSpPr>
        <p:spPr>
          <a:xfrm>
            <a:off x="5276088" y="2039112"/>
            <a:ext cx="3291840" cy="384048"/>
          </a:xfrm>
          <a:prstGeom prst="rect">
            <a:avLst/>
          </a:prstGeom>
          <a:noFill/>
          <a:ln/>
        </p:spPr>
        <p:txBody>
          <a:bodyPr wrap="square" lIns="0" tIns="0" rIns="0" bIns="0" rtlCol="0" anchor="ctr"/>
          <a:lstStyle/>
          <a:p>
            <a:pPr marL="0" indent="0">
              <a:buNone/>
            </a:pPr>
            <a:r>
              <a:rPr lang="en-US" sz="1050" dirty="0">
                <a:solidFill>
                  <a:srgbClr val="F4F4F5"/>
                </a:solidFill>
              </a:rPr>
              <a:t>Many human-potential areas on one device</a:t>
            </a:r>
            <a:endParaRPr lang="en-US" sz="1050" dirty="0">
              <a:solidFill>
                <a:srgbClr val="F4F4F5"/>
              </a:solidFill>
            </a:endParaRPr>
          </a:p>
        </p:txBody>
      </p:sp>
      <p:sp>
        <p:nvSpPr>
          <p:cNvPr id="41" name="Good to have item 3 check"/>
          <p:cNvSpPr/>
          <p:nvPr/>
        </p:nvSpPr>
        <p:spPr>
          <a:xfrm>
            <a:off x="4910328" y="2532888"/>
            <a:ext cx="256032" cy="256032"/>
          </a:xfrm>
          <a:prstGeom prst="ellipse">
            <a:avLst/>
          </a:prstGeom>
          <a:solidFill>
            <a:srgbClr val="FF5F1F"/>
          </a:solidFill>
          <a:ln w="15875">
            <a:solidFill>
              <a:srgbClr val="FF6A2B"/>
            </a:solidFill>
            <a:prstDash val="solid"/>
          </a:ln>
        </p:spPr>
      </p:sp>
      <p:sp>
        <p:nvSpPr>
          <p:cNvPr id="42" name="Good to have item 3 mark"/>
          <p:cNvSpPr txBox="1"/>
          <p:nvPr/>
        </p:nvSpPr>
        <p:spPr>
          <a:xfrm>
            <a:off x="4910328" y="253288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43" name="Good to have item 3 text"/>
          <p:cNvSpPr txBox="1"/>
          <p:nvPr/>
        </p:nvSpPr>
        <p:spPr>
          <a:xfrm>
            <a:off x="5276088" y="2468880"/>
            <a:ext cx="3291840" cy="384048"/>
          </a:xfrm>
          <a:prstGeom prst="rect">
            <a:avLst/>
          </a:prstGeom>
          <a:noFill/>
          <a:ln/>
        </p:spPr>
        <p:txBody>
          <a:bodyPr wrap="square" lIns="0" tIns="0" rIns="0" bIns="0" rtlCol="0" anchor="ctr"/>
          <a:lstStyle/>
          <a:p>
            <a:pPr marL="0" indent="0">
              <a:buNone/>
            </a:pPr>
            <a:r>
              <a:rPr lang="en-US" sz="1050" dirty="0">
                <a:solidFill>
                  <a:srgbClr val="F4F4F5"/>
                </a:solidFill>
              </a:rPr>
              <a:t>Honest fallback: “I'm not sure”</a:t>
            </a:r>
            <a:endParaRPr lang="en-US" sz="1050" dirty="0">
              <a:solidFill>
                <a:srgbClr val="F4F4F5"/>
              </a:solidFill>
            </a:endParaRPr>
          </a:p>
        </p:txBody>
      </p:sp>
      <p:sp>
        <p:nvSpPr>
          <p:cNvPr id="44" name="Good to have item 4 check"/>
          <p:cNvSpPr/>
          <p:nvPr/>
        </p:nvSpPr>
        <p:spPr>
          <a:xfrm>
            <a:off x="4910328" y="2962656"/>
            <a:ext cx="256032" cy="256032"/>
          </a:xfrm>
          <a:prstGeom prst="ellipse">
            <a:avLst/>
          </a:prstGeom>
          <a:solidFill>
            <a:srgbClr val="FF5F1F"/>
          </a:solidFill>
          <a:ln w="15875">
            <a:solidFill>
              <a:srgbClr val="FF6A2B"/>
            </a:solidFill>
            <a:prstDash val="solid"/>
          </a:ln>
        </p:spPr>
      </p:sp>
      <p:sp>
        <p:nvSpPr>
          <p:cNvPr id="45" name="Good to have item 4 mark"/>
          <p:cNvSpPr txBox="1"/>
          <p:nvPr/>
        </p:nvSpPr>
        <p:spPr>
          <a:xfrm>
            <a:off x="4910328" y="296265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46" name="Good to have item 4 text"/>
          <p:cNvSpPr txBox="1"/>
          <p:nvPr/>
        </p:nvSpPr>
        <p:spPr>
          <a:xfrm>
            <a:off x="5276088" y="2898648"/>
            <a:ext cx="3291840" cy="384048"/>
          </a:xfrm>
          <a:prstGeom prst="rect">
            <a:avLst/>
          </a:prstGeom>
          <a:noFill/>
          <a:ln/>
        </p:spPr>
        <p:txBody>
          <a:bodyPr wrap="square" lIns="0" tIns="0" rIns="0" bIns="0" rtlCol="0" anchor="ctr"/>
          <a:lstStyle/>
          <a:p>
            <a:pPr marL="0" indent="0">
              <a:buNone/>
            </a:pPr>
            <a:r>
              <a:rPr lang="en-US" sz="1050" dirty="0">
                <a:solidFill>
                  <a:srgbClr val="F4F4F5"/>
                </a:solidFill>
              </a:rPr>
              <a:t>Desk-friendly, adapts from feedback</a:t>
            </a:r>
            <a:endParaRPr lang="en-US" sz="1050" dirty="0">
              <a:solidFill>
                <a:srgbClr val="F4F4F5"/>
              </a:solidFill>
            </a:endParaRPr>
          </a:p>
        </p:txBody>
      </p:sp>
      <p:sp>
        <p:nvSpPr>
          <p:cNvPr id="47" name="Good to have item 5 check"/>
          <p:cNvSpPr/>
          <p:nvPr/>
        </p:nvSpPr>
        <p:spPr>
          <a:xfrm>
            <a:off x="4910328" y="3392424"/>
            <a:ext cx="256032" cy="256032"/>
          </a:xfrm>
          <a:prstGeom prst="ellipse">
            <a:avLst/>
          </a:prstGeom>
          <a:solidFill>
            <a:srgbClr val="FF5F1F"/>
          </a:solidFill>
          <a:ln w="15875">
            <a:solidFill>
              <a:srgbClr val="FF6A2B"/>
            </a:solidFill>
            <a:prstDash val="solid"/>
          </a:ln>
        </p:spPr>
      </p:sp>
      <p:sp>
        <p:nvSpPr>
          <p:cNvPr id="48" name="Good to have item 5 mark"/>
          <p:cNvSpPr txBox="1"/>
          <p:nvPr/>
        </p:nvSpPr>
        <p:spPr>
          <a:xfrm>
            <a:off x="4910328" y="339242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solidFill>
                <a:srgbClr val="F4F4F5"/>
              </a:solidFill>
            </a:endParaRPr>
          </a:p>
        </p:txBody>
      </p:sp>
      <p:sp>
        <p:nvSpPr>
          <p:cNvPr id="49" name="Good to have item 5 text"/>
          <p:cNvSpPr txBox="1"/>
          <p:nvPr/>
        </p:nvSpPr>
        <p:spPr>
          <a:xfrm>
            <a:off x="5276088" y="3328416"/>
            <a:ext cx="3291840" cy="384048"/>
          </a:xfrm>
          <a:prstGeom prst="rect">
            <a:avLst/>
          </a:prstGeom>
          <a:noFill/>
          <a:ln/>
        </p:spPr>
        <p:txBody>
          <a:bodyPr wrap="square" lIns="0" tIns="0" rIns="0" bIns="0" rtlCol="0" anchor="ctr"/>
          <a:lstStyle/>
          <a:p>
            <a:pPr marL="0" indent="0">
              <a:buNone/>
            </a:pPr>
            <a:r>
              <a:rPr lang="en-US" sz="1050" dirty="0">
                <a:solidFill>
                  <a:srgbClr val="F4F4F5"/>
                </a:solidFill>
              </a:rPr>
              <a:t>Power-efficient design</a:t>
            </a:r>
            <a:endParaRPr lang="en-US" sz="1050" dirty="0">
              <a:solidFill>
                <a:srgbClr val="F4F4F5"/>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6" name="Title"/>
          <p:cNvSpPr txBox="1"/>
          <p:nvPr/>
        </p:nvSpPr>
        <p:spPr>
          <a:xfrm>
            <a:off x="1371600" y="73152"/>
            <a:ext cx="6400800" cy="457200"/>
          </a:xfrm>
          <a:prstGeom prst="rect">
            <a:avLst/>
          </a:prstGeom>
          <a:noFill/>
          <a:ln/>
        </p:spPr>
        <p:txBody>
          <a:bodyPr wrap="square" lIns="0" tIns="0" rIns="0" bIns="0" rtlCol="0" anchor="ctr"/>
          <a:lstStyle/>
          <a:p>
            <a:pPr marL="0" indent="0" algn="ctr">
              <a:buNone/>
            </a:pPr>
            <a:r>
              <a:rPr lang="en-US" sz="2800" b="1" dirty="0">
                <a:solidFill>
                  <a:srgbClr val="F4F4F5"/>
                </a:solidFill>
              </a:rPr>
              <a:t>Beyond the Requirements</a:t>
            </a:r>
            <a:endParaRPr lang="en-US" sz="2800" dirty="0">
              <a:solidFill>
                <a:srgbClr val="F4F4F5"/>
              </a:solidFill>
            </a:endParaRPr>
          </a:p>
        </p:txBody>
      </p:sp>
      <p:sp>
        <p:nvSpPr>
          <p:cNvPr id="7" name="Subtitle"/>
          <p:cNvSpPr txBox="1"/>
          <p:nvPr/>
        </p:nvSpPr>
        <p:spPr>
          <a:xfrm>
            <a:off x="1371600" y="548640"/>
            <a:ext cx="6400800" cy="237744"/>
          </a:xfrm>
          <a:prstGeom prst="rect">
            <a:avLst/>
          </a:prstGeom>
          <a:noFill/>
          <a:ln/>
        </p:spPr>
        <p:txBody>
          <a:bodyPr wrap="square" lIns="0" tIns="0" rIns="0" bIns="0" rtlCol="0" anchor="ctr"/>
          <a:lstStyle/>
          <a:p>
            <a:pPr marL="0" indent="0" algn="ctr">
              <a:buNone/>
            </a:pPr>
            <a:r>
              <a:rPr lang="en-US" sz="1100" dirty="0">
                <a:solidFill>
                  <a:srgbClr val="A1A1AA"/>
                </a:solidFill>
              </a:rPr>
              <a:t>Extra features we built on top of the must-haves and good-to-haves</a:t>
            </a:r>
            <a:endParaRPr lang="en-US" sz="1100" dirty="0">
              <a:solidFill>
                <a:srgbClr val="F4F4F5"/>
              </a:solidFill>
            </a:endParaRPr>
          </a:p>
        </p:txBody>
      </p:sp>
      <p:sp>
        <p:nvSpPr>
          <p:cNvPr id="8" name="Feature 1 card"/>
          <p:cNvSpPr/>
          <p:nvPr/>
        </p:nvSpPr>
        <p:spPr>
          <a:xfrm>
            <a:off x="411480" y="987552"/>
            <a:ext cx="1908810" cy="1691640"/>
          </a:xfrm>
          <a:prstGeom prst="roundRect">
            <a:avLst>
              <a:gd name="adj" fmla="val 6486"/>
            </a:avLst>
          </a:prstGeom>
          <a:solidFill>
            <a:srgbClr val="1A1A1F"/>
          </a:solidFill>
          <a:ln w="9525">
            <a:solidFill>
              <a:srgbClr val="4A3026"/>
            </a:solidFill>
            <a:prstDash val="solid"/>
          </a:ln>
        </p:spPr>
      </p:sp>
      <p:sp>
        <p:nvSpPr>
          <p:cNvPr id="9" name="Feature 1 tile"/>
          <p:cNvSpPr/>
          <p:nvPr/>
        </p:nvSpPr>
        <p:spPr>
          <a:xfrm>
            <a:off x="1082421" y="1124712"/>
            <a:ext cx="566928" cy="566928"/>
          </a:xfrm>
          <a:prstGeom prst="roundRect">
            <a:avLst>
              <a:gd name="adj" fmla="val 19355"/>
            </a:avLst>
          </a:prstGeom>
          <a:solidFill>
            <a:srgbClr val="FF5F1F"/>
          </a:solidFill>
          <a:ln w="9525">
            <a:solidFill>
              <a:srgbClr val="FF6A2B"/>
            </a:solidFill>
            <a:prstDash val="solid"/>
          </a:ln>
        </p:spPr>
      </p:sp>
      <p:pic>
        <p:nvPicPr>
          <p:cNvPr id="10" name="Feature 1 icon" descr="Meeting mode"/>
          <p:cNvPicPr>
            <a:picLocks noChangeAspect="1"/>
          </p:cNvPicPr>
          <p:nvPr/>
        </p:nvPicPr>
        <p:blipFill>
          <a:blip r:embed="rId3"/>
          <a:stretch>
            <a:fillRect/>
          </a:stretch>
        </p:blipFill>
        <p:spPr>
          <a:xfrm>
            <a:off x="1210437" y="1252728"/>
            <a:ext cx="310896" cy="310896"/>
          </a:xfrm>
          <a:prstGeom prst="rect">
            <a:avLst/>
          </a:prstGeom>
        </p:spPr>
      </p:pic>
      <p:sp>
        <p:nvSpPr>
          <p:cNvPr id="11" name="Feature 1 title"/>
          <p:cNvSpPr txBox="1"/>
          <p:nvPr/>
        </p:nvSpPr>
        <p:spPr>
          <a:xfrm>
            <a:off x="502920" y="1764792"/>
            <a:ext cx="1725930" cy="274320"/>
          </a:xfrm>
          <a:prstGeom prst="rect">
            <a:avLst/>
          </a:prstGeom>
          <a:noFill/>
          <a:ln/>
        </p:spPr>
        <p:txBody>
          <a:bodyPr wrap="square" lIns="0" tIns="0" rIns="0" bIns="0" rtlCol="0" anchor="ctr"/>
          <a:lstStyle/>
          <a:p>
            <a:pPr marL="0" indent="0" algn="ctr">
              <a:buNone/>
            </a:pPr>
            <a:r>
              <a:rPr lang="en-US" sz="1150" b="1" dirty="0">
                <a:solidFill>
                  <a:srgbClr val="F4F4F5"/>
                </a:solidFill>
              </a:rPr>
              <a:t>Meeting mode</a:t>
            </a:r>
            <a:endParaRPr lang="en-US" sz="1150" dirty="0">
              <a:solidFill>
                <a:srgbClr val="F4F4F5"/>
              </a:solidFill>
            </a:endParaRPr>
          </a:p>
        </p:txBody>
      </p:sp>
      <p:sp>
        <p:nvSpPr>
          <p:cNvPr id="12" name="Feature 1 text"/>
          <p:cNvSpPr txBox="1"/>
          <p:nvPr/>
        </p:nvSpPr>
        <p:spPr>
          <a:xfrm>
            <a:off x="521208" y="2039112"/>
            <a:ext cx="1689354" cy="566928"/>
          </a:xfrm>
          <a:prstGeom prst="rect">
            <a:avLst/>
          </a:prstGeom>
          <a:noFill/>
          <a:ln/>
        </p:spPr>
        <p:txBody>
          <a:bodyPr wrap="square" lIns="0" tIns="0" rIns="0" bIns="0" rtlCol="0" anchor="t"/>
          <a:lstStyle/>
          <a:p>
            <a:pPr marL="0" indent="0" algn="ctr">
              <a:buNone/>
            </a:pPr>
            <a:r>
              <a:rPr lang="en-US" sz="950" dirty="0">
                <a:solidFill>
                  <a:srgbClr val="A1A1AA"/>
                </a:solidFill>
              </a:rPr>
              <a:t>Notes plans and tasks, asks before saving, never keeps the transcript</a:t>
            </a:r>
            <a:endParaRPr lang="en-US" sz="950" dirty="0">
              <a:solidFill>
                <a:srgbClr val="F4F4F5"/>
              </a:solidFill>
            </a:endParaRPr>
          </a:p>
        </p:txBody>
      </p:sp>
      <p:sp>
        <p:nvSpPr>
          <p:cNvPr id="13" name="Feature 2 card"/>
          <p:cNvSpPr/>
          <p:nvPr/>
        </p:nvSpPr>
        <p:spPr>
          <a:xfrm>
            <a:off x="2548890" y="987552"/>
            <a:ext cx="1908810" cy="1691640"/>
          </a:xfrm>
          <a:prstGeom prst="roundRect">
            <a:avLst>
              <a:gd name="adj" fmla="val 6486"/>
            </a:avLst>
          </a:prstGeom>
          <a:solidFill>
            <a:srgbClr val="1A1A1F"/>
          </a:solidFill>
          <a:ln w="9525">
            <a:solidFill>
              <a:srgbClr val="4A3026"/>
            </a:solidFill>
            <a:prstDash val="solid"/>
          </a:ln>
        </p:spPr>
      </p:sp>
      <p:sp>
        <p:nvSpPr>
          <p:cNvPr id="14" name="Feature 2 tile"/>
          <p:cNvSpPr/>
          <p:nvPr/>
        </p:nvSpPr>
        <p:spPr>
          <a:xfrm>
            <a:off x="3219831" y="1124712"/>
            <a:ext cx="566928" cy="566928"/>
          </a:xfrm>
          <a:prstGeom prst="roundRect">
            <a:avLst>
              <a:gd name="adj" fmla="val 19355"/>
            </a:avLst>
          </a:prstGeom>
          <a:solidFill>
            <a:srgbClr val="E0602A"/>
          </a:solidFill>
          <a:ln w="9525">
            <a:solidFill>
              <a:srgbClr val="E0602A"/>
            </a:solidFill>
            <a:prstDash val="solid"/>
          </a:ln>
        </p:spPr>
      </p:sp>
      <p:pic>
        <p:nvPicPr>
          <p:cNvPr id="15" name="Feature 2 icon" descr="Brain games"/>
          <p:cNvPicPr>
            <a:picLocks noChangeAspect="1"/>
          </p:cNvPicPr>
          <p:nvPr/>
        </p:nvPicPr>
        <p:blipFill>
          <a:blip r:embed="rId4"/>
          <a:stretch>
            <a:fillRect/>
          </a:stretch>
        </p:blipFill>
        <p:spPr>
          <a:xfrm>
            <a:off x="3347847" y="1252728"/>
            <a:ext cx="310896" cy="310896"/>
          </a:xfrm>
          <a:prstGeom prst="rect">
            <a:avLst/>
          </a:prstGeom>
        </p:spPr>
      </p:pic>
      <p:sp>
        <p:nvSpPr>
          <p:cNvPr id="16" name="Feature 2 title"/>
          <p:cNvSpPr txBox="1"/>
          <p:nvPr/>
        </p:nvSpPr>
        <p:spPr>
          <a:xfrm>
            <a:off x="2640330" y="1764792"/>
            <a:ext cx="1725930" cy="274320"/>
          </a:xfrm>
          <a:prstGeom prst="rect">
            <a:avLst/>
          </a:prstGeom>
          <a:noFill/>
          <a:ln/>
        </p:spPr>
        <p:txBody>
          <a:bodyPr wrap="square" lIns="0" tIns="0" rIns="0" bIns="0" rtlCol="0" anchor="ctr"/>
          <a:lstStyle/>
          <a:p>
            <a:pPr marL="0" indent="0" algn="ctr">
              <a:buNone/>
            </a:pPr>
            <a:r>
              <a:rPr lang="en-US" sz="1150" b="1" dirty="0">
                <a:solidFill>
                  <a:srgbClr val="F4F4F5"/>
                </a:solidFill>
              </a:rPr>
              <a:t>Brain games</a:t>
            </a:r>
            <a:endParaRPr lang="en-US" sz="1150" dirty="0">
              <a:solidFill>
                <a:srgbClr val="F4F4F5"/>
              </a:solidFill>
            </a:endParaRPr>
          </a:p>
        </p:txBody>
      </p:sp>
      <p:sp>
        <p:nvSpPr>
          <p:cNvPr id="17" name="Feature 2 text"/>
          <p:cNvSpPr txBox="1"/>
          <p:nvPr/>
        </p:nvSpPr>
        <p:spPr>
          <a:xfrm>
            <a:off x="2658618" y="2039112"/>
            <a:ext cx="1689354" cy="566928"/>
          </a:xfrm>
          <a:prstGeom prst="rect">
            <a:avLst/>
          </a:prstGeom>
          <a:noFill/>
          <a:ln/>
        </p:spPr>
        <p:txBody>
          <a:bodyPr wrap="square" lIns="0" tIns="0" rIns="0" bIns="0" rtlCol="0" anchor="t"/>
          <a:lstStyle/>
          <a:p>
            <a:pPr marL="0" indent="0" algn="ctr">
              <a:buNone/>
            </a:pPr>
            <a:r>
              <a:rPr lang="en-US" sz="950" dirty="0">
                <a:solidFill>
                  <a:srgbClr val="A1A1AA"/>
                </a:solidFill>
              </a:rPr>
              <a:t>Tic-tac-toe by voice or touch, memory sequence, mental maths</a:t>
            </a:r>
            <a:endParaRPr lang="en-US" sz="950" dirty="0">
              <a:solidFill>
                <a:srgbClr val="F4F4F5"/>
              </a:solidFill>
            </a:endParaRPr>
          </a:p>
        </p:txBody>
      </p:sp>
      <p:sp>
        <p:nvSpPr>
          <p:cNvPr id="18" name="Feature 3 card"/>
          <p:cNvSpPr/>
          <p:nvPr/>
        </p:nvSpPr>
        <p:spPr>
          <a:xfrm>
            <a:off x="4686300" y="987552"/>
            <a:ext cx="1908810" cy="1691640"/>
          </a:xfrm>
          <a:prstGeom prst="roundRect">
            <a:avLst>
              <a:gd name="adj" fmla="val 6486"/>
            </a:avLst>
          </a:prstGeom>
          <a:solidFill>
            <a:srgbClr val="1A1A1F"/>
          </a:solidFill>
          <a:ln w="9525">
            <a:solidFill>
              <a:srgbClr val="4A3026"/>
            </a:solidFill>
            <a:prstDash val="solid"/>
          </a:ln>
        </p:spPr>
      </p:sp>
      <p:sp>
        <p:nvSpPr>
          <p:cNvPr id="19" name="Feature 3 tile"/>
          <p:cNvSpPr/>
          <p:nvPr/>
        </p:nvSpPr>
        <p:spPr>
          <a:xfrm>
            <a:off x="5357241" y="1124712"/>
            <a:ext cx="566928" cy="566928"/>
          </a:xfrm>
          <a:prstGeom prst="roundRect">
            <a:avLst>
              <a:gd name="adj" fmla="val 19355"/>
            </a:avLst>
          </a:prstGeom>
          <a:solidFill>
            <a:srgbClr val="2A1A14"/>
          </a:solidFill>
          <a:ln w="9525">
            <a:solidFill>
              <a:srgbClr val="4A3026"/>
            </a:solidFill>
            <a:prstDash val="solid"/>
          </a:ln>
        </p:spPr>
      </p:sp>
      <p:pic>
        <p:nvPicPr>
          <p:cNvPr id="20" name="Feature 3 icon" descr="Emergency help"/>
          <p:cNvPicPr>
            <a:picLocks noChangeAspect="1"/>
          </p:cNvPicPr>
          <p:nvPr/>
        </p:nvPicPr>
        <p:blipFill>
          <a:blip r:embed="rId5"/>
          <a:stretch>
            <a:fillRect/>
          </a:stretch>
        </p:blipFill>
        <p:spPr>
          <a:xfrm>
            <a:off x="5485257" y="1252728"/>
            <a:ext cx="310896" cy="310896"/>
          </a:xfrm>
          <a:prstGeom prst="rect">
            <a:avLst/>
          </a:prstGeom>
        </p:spPr>
      </p:pic>
      <p:sp>
        <p:nvSpPr>
          <p:cNvPr id="21" name="Feature 3 title"/>
          <p:cNvSpPr txBox="1"/>
          <p:nvPr/>
        </p:nvSpPr>
        <p:spPr>
          <a:xfrm>
            <a:off x="4777740" y="1764792"/>
            <a:ext cx="1725930" cy="274320"/>
          </a:xfrm>
          <a:prstGeom prst="rect">
            <a:avLst/>
          </a:prstGeom>
          <a:noFill/>
          <a:ln/>
        </p:spPr>
        <p:txBody>
          <a:bodyPr wrap="square" lIns="0" tIns="0" rIns="0" bIns="0" rtlCol="0" anchor="ctr"/>
          <a:lstStyle/>
          <a:p>
            <a:pPr marL="0" indent="0" algn="ctr">
              <a:buNone/>
            </a:pPr>
            <a:r>
              <a:rPr lang="en-US" sz="1150" b="1" dirty="0">
                <a:solidFill>
                  <a:srgbClr val="F4F4F5"/>
                </a:solidFill>
              </a:rPr>
              <a:t>Emergency help</a:t>
            </a:r>
            <a:endParaRPr lang="en-US" sz="1150" dirty="0">
              <a:solidFill>
                <a:srgbClr val="F4F4F5"/>
              </a:solidFill>
            </a:endParaRPr>
          </a:p>
        </p:txBody>
      </p:sp>
      <p:sp>
        <p:nvSpPr>
          <p:cNvPr id="22" name="Feature 3 text"/>
          <p:cNvSpPr txBox="1"/>
          <p:nvPr/>
        </p:nvSpPr>
        <p:spPr>
          <a:xfrm>
            <a:off x="4796028" y="2039112"/>
            <a:ext cx="1689354" cy="566928"/>
          </a:xfrm>
          <a:prstGeom prst="rect">
            <a:avLst/>
          </a:prstGeom>
          <a:noFill/>
          <a:ln/>
        </p:spPr>
        <p:txBody>
          <a:bodyPr wrap="square" lIns="0" tIns="0" rIns="0" bIns="0" rtlCol="0" anchor="t"/>
          <a:lstStyle/>
          <a:p>
            <a:pPr marL="0" indent="0" algn="ctr">
              <a:buNone/>
            </a:pPr>
            <a:r>
              <a:rPr lang="en-US" sz="950" dirty="0">
                <a:solidFill>
                  <a:srgbClr val="A1A1AA"/>
                </a:solidFill>
              </a:rPr>
              <a:t>112, 108, Tele MANAS 14416 and your contacts, even offline</a:t>
            </a:r>
            <a:endParaRPr lang="en-US" sz="950" dirty="0">
              <a:solidFill>
                <a:srgbClr val="F4F4F5"/>
              </a:solidFill>
            </a:endParaRPr>
          </a:p>
        </p:txBody>
      </p:sp>
      <p:sp>
        <p:nvSpPr>
          <p:cNvPr id="23" name="Feature 4 card"/>
          <p:cNvSpPr/>
          <p:nvPr/>
        </p:nvSpPr>
        <p:spPr>
          <a:xfrm>
            <a:off x="6823710" y="987552"/>
            <a:ext cx="1908810" cy="1691640"/>
          </a:xfrm>
          <a:prstGeom prst="roundRect">
            <a:avLst>
              <a:gd name="adj" fmla="val 6486"/>
            </a:avLst>
          </a:prstGeom>
          <a:solidFill>
            <a:srgbClr val="1A1A1F"/>
          </a:solidFill>
          <a:ln w="9525">
            <a:solidFill>
              <a:srgbClr val="4A3026"/>
            </a:solidFill>
            <a:prstDash val="solid"/>
          </a:ln>
        </p:spPr>
      </p:sp>
      <p:sp>
        <p:nvSpPr>
          <p:cNvPr id="24" name="Feature 4 tile"/>
          <p:cNvSpPr/>
          <p:nvPr/>
        </p:nvSpPr>
        <p:spPr>
          <a:xfrm>
            <a:off x="7494651" y="1124712"/>
            <a:ext cx="566928" cy="566928"/>
          </a:xfrm>
          <a:prstGeom prst="roundRect">
            <a:avLst>
              <a:gd name="adj" fmla="val 19355"/>
            </a:avLst>
          </a:prstGeom>
          <a:solidFill>
            <a:srgbClr val="1A1A1F"/>
          </a:solidFill>
          <a:ln w="9525">
            <a:solidFill>
              <a:srgbClr val="4A3026"/>
            </a:solidFill>
            <a:prstDash val="solid"/>
          </a:ln>
        </p:spPr>
      </p:sp>
      <p:pic>
        <p:nvPicPr>
          <p:cNvPr id="25" name="Feature 4 icon" descr="Wellbeing"/>
          <p:cNvPicPr>
            <a:picLocks noChangeAspect="1"/>
          </p:cNvPicPr>
          <p:nvPr/>
        </p:nvPicPr>
        <p:blipFill>
          <a:blip r:embed="rId6"/>
          <a:stretch>
            <a:fillRect/>
          </a:stretch>
        </p:blipFill>
        <p:spPr>
          <a:xfrm>
            <a:off x="7622667" y="1252728"/>
            <a:ext cx="310896" cy="310896"/>
          </a:xfrm>
          <a:prstGeom prst="rect">
            <a:avLst/>
          </a:prstGeom>
        </p:spPr>
      </p:pic>
      <p:sp>
        <p:nvSpPr>
          <p:cNvPr id="26" name="Feature 4 title"/>
          <p:cNvSpPr txBox="1"/>
          <p:nvPr/>
        </p:nvSpPr>
        <p:spPr>
          <a:xfrm>
            <a:off x="6915150" y="1764792"/>
            <a:ext cx="1725930" cy="274320"/>
          </a:xfrm>
          <a:prstGeom prst="rect">
            <a:avLst/>
          </a:prstGeom>
          <a:noFill/>
          <a:ln/>
        </p:spPr>
        <p:txBody>
          <a:bodyPr wrap="square" lIns="0" tIns="0" rIns="0" bIns="0" rtlCol="0" anchor="ctr"/>
          <a:lstStyle/>
          <a:p>
            <a:pPr marL="0" indent="0" algn="ctr">
              <a:buNone/>
            </a:pPr>
            <a:r>
              <a:rPr lang="en-US" sz="1150" b="1" dirty="0">
                <a:solidFill>
                  <a:srgbClr val="F4F4F5"/>
                </a:solidFill>
              </a:rPr>
              <a:t>Wellbeing</a:t>
            </a:r>
            <a:endParaRPr lang="en-US" sz="1150" dirty="0">
              <a:solidFill>
                <a:srgbClr val="F4F4F5"/>
              </a:solidFill>
            </a:endParaRPr>
          </a:p>
        </p:txBody>
      </p:sp>
      <p:sp>
        <p:nvSpPr>
          <p:cNvPr id="27" name="Feature 4 text"/>
          <p:cNvSpPr txBox="1"/>
          <p:nvPr/>
        </p:nvSpPr>
        <p:spPr>
          <a:xfrm>
            <a:off x="6933438" y="2039112"/>
            <a:ext cx="1689354" cy="566928"/>
          </a:xfrm>
          <a:prstGeom prst="rect">
            <a:avLst/>
          </a:prstGeom>
          <a:noFill/>
          <a:ln/>
        </p:spPr>
        <p:txBody>
          <a:bodyPr wrap="square" lIns="0" tIns="0" rIns="0" bIns="0" rtlCol="0" anchor="t"/>
          <a:lstStyle/>
          <a:p>
            <a:pPr marL="0" indent="0" algn="ctr">
              <a:buNone/>
            </a:pPr>
            <a:r>
              <a:rPr lang="en-US" sz="950" dirty="0">
                <a:solidFill>
                  <a:srgbClr val="A1A1AA"/>
                </a:solidFill>
              </a:rPr>
              <a:t>Guided breathing and grounding, matched to how you feel; a private period tracker</a:t>
            </a:r>
            <a:endParaRPr lang="en-US" sz="950" dirty="0">
              <a:solidFill>
                <a:srgbClr val="F4F4F5"/>
              </a:solidFill>
            </a:endParaRPr>
          </a:p>
        </p:txBody>
      </p:sp>
      <p:sp>
        <p:nvSpPr>
          <p:cNvPr id="28" name="Feature 5 card"/>
          <p:cNvSpPr/>
          <p:nvPr/>
        </p:nvSpPr>
        <p:spPr>
          <a:xfrm>
            <a:off x="1480185" y="2834640"/>
            <a:ext cx="1908810" cy="1691640"/>
          </a:xfrm>
          <a:prstGeom prst="roundRect">
            <a:avLst>
              <a:gd name="adj" fmla="val 6486"/>
            </a:avLst>
          </a:prstGeom>
          <a:solidFill>
            <a:srgbClr val="1A1A1F"/>
          </a:solidFill>
          <a:ln w="9525">
            <a:solidFill>
              <a:srgbClr val="4A3026"/>
            </a:solidFill>
            <a:prstDash val="solid"/>
          </a:ln>
        </p:spPr>
      </p:sp>
      <p:sp>
        <p:nvSpPr>
          <p:cNvPr id="29" name="Feature 5 tile"/>
          <p:cNvSpPr/>
          <p:nvPr/>
        </p:nvSpPr>
        <p:spPr>
          <a:xfrm>
            <a:off x="2151126" y="2971800"/>
            <a:ext cx="566928" cy="566928"/>
          </a:xfrm>
          <a:prstGeom prst="roundRect">
            <a:avLst>
              <a:gd name="adj" fmla="val 19355"/>
            </a:avLst>
          </a:prstGeom>
          <a:solidFill>
            <a:srgbClr val="1A1A1F"/>
          </a:solidFill>
          <a:ln w="9525">
            <a:solidFill>
              <a:srgbClr val="4A3026"/>
            </a:solidFill>
            <a:prstDash val="solid"/>
          </a:ln>
        </p:spPr>
      </p:sp>
      <p:pic>
        <p:nvPicPr>
          <p:cNvPr id="30" name="Feature 5 icon" descr="Daily summary"/>
          <p:cNvPicPr>
            <a:picLocks noChangeAspect="1"/>
          </p:cNvPicPr>
          <p:nvPr/>
        </p:nvPicPr>
        <p:blipFill>
          <a:blip r:embed="rId7"/>
          <a:stretch>
            <a:fillRect/>
          </a:stretch>
        </p:blipFill>
        <p:spPr>
          <a:xfrm>
            <a:off x="2279142" y="3099816"/>
            <a:ext cx="310896" cy="310896"/>
          </a:xfrm>
          <a:prstGeom prst="rect">
            <a:avLst/>
          </a:prstGeom>
        </p:spPr>
      </p:pic>
      <p:sp>
        <p:nvSpPr>
          <p:cNvPr id="31" name="Feature 5 title"/>
          <p:cNvSpPr txBox="1"/>
          <p:nvPr/>
        </p:nvSpPr>
        <p:spPr>
          <a:xfrm>
            <a:off x="1571625" y="3611880"/>
            <a:ext cx="1725930" cy="274320"/>
          </a:xfrm>
          <a:prstGeom prst="rect">
            <a:avLst/>
          </a:prstGeom>
          <a:noFill/>
          <a:ln/>
        </p:spPr>
        <p:txBody>
          <a:bodyPr wrap="square" lIns="0" tIns="0" rIns="0" bIns="0" rtlCol="0" anchor="ctr"/>
          <a:lstStyle/>
          <a:p>
            <a:pPr marL="0" indent="0" algn="ctr">
              <a:buNone/>
            </a:pPr>
            <a:r>
              <a:rPr lang="en-US" sz="1150" b="1" dirty="0">
                <a:solidFill>
                  <a:srgbClr val="F4F4F5"/>
                </a:solidFill>
              </a:rPr>
              <a:t>Daily summary</a:t>
            </a:r>
            <a:endParaRPr lang="en-US" sz="1150" dirty="0">
              <a:solidFill>
                <a:srgbClr val="F4F4F5"/>
              </a:solidFill>
            </a:endParaRPr>
          </a:p>
        </p:txBody>
      </p:sp>
      <p:sp>
        <p:nvSpPr>
          <p:cNvPr id="32" name="Feature 5 text"/>
          <p:cNvSpPr txBox="1"/>
          <p:nvPr/>
        </p:nvSpPr>
        <p:spPr>
          <a:xfrm>
            <a:off x="1589913" y="3886200"/>
            <a:ext cx="1689354" cy="566928"/>
          </a:xfrm>
          <a:prstGeom prst="rect">
            <a:avLst/>
          </a:prstGeom>
          <a:noFill/>
          <a:ln/>
        </p:spPr>
        <p:txBody>
          <a:bodyPr wrap="square" lIns="0" tIns="0" rIns="0" bIns="0" rtlCol="0" anchor="t"/>
          <a:lstStyle/>
          <a:p>
            <a:pPr marL="0" indent="0" algn="ctr">
              <a:buNone/>
            </a:pPr>
            <a:r>
              <a:rPr lang="en-US" sz="950" dirty="0">
                <a:solidFill>
                  <a:srgbClr val="A1A1AA"/>
                </a:solidFill>
              </a:rPr>
              <a:t>“What's my day?”: schedule, reminders and weather in one answer</a:t>
            </a:r>
            <a:endParaRPr lang="en-US" sz="950" dirty="0">
              <a:solidFill>
                <a:srgbClr val="F4F4F5"/>
              </a:solidFill>
            </a:endParaRPr>
          </a:p>
        </p:txBody>
      </p:sp>
      <p:sp>
        <p:nvSpPr>
          <p:cNvPr id="33" name="Feature 6 card"/>
          <p:cNvSpPr/>
          <p:nvPr/>
        </p:nvSpPr>
        <p:spPr>
          <a:xfrm>
            <a:off x="3617595" y="2834640"/>
            <a:ext cx="1908810" cy="1691640"/>
          </a:xfrm>
          <a:prstGeom prst="roundRect">
            <a:avLst>
              <a:gd name="adj" fmla="val 6486"/>
            </a:avLst>
          </a:prstGeom>
          <a:solidFill>
            <a:srgbClr val="1A1A1F"/>
          </a:solidFill>
          <a:ln w="9525">
            <a:solidFill>
              <a:srgbClr val="4A3026"/>
            </a:solidFill>
            <a:prstDash val="solid"/>
          </a:ln>
        </p:spPr>
      </p:sp>
      <p:sp>
        <p:nvSpPr>
          <p:cNvPr id="34" name="Feature 6 tile"/>
          <p:cNvSpPr/>
          <p:nvPr/>
        </p:nvSpPr>
        <p:spPr>
          <a:xfrm>
            <a:off x="4288536" y="2971800"/>
            <a:ext cx="566928" cy="566928"/>
          </a:xfrm>
          <a:prstGeom prst="roundRect">
            <a:avLst>
              <a:gd name="adj" fmla="val 19355"/>
            </a:avLst>
          </a:prstGeom>
          <a:solidFill>
            <a:srgbClr val="E0602A"/>
          </a:solidFill>
          <a:ln w="9525">
            <a:solidFill>
              <a:srgbClr val="E0602A"/>
            </a:solidFill>
            <a:prstDash val="solid"/>
          </a:ln>
        </p:spPr>
      </p:sp>
      <p:pic>
        <p:nvPicPr>
          <p:cNvPr id="35" name="Feature 6 icon" descr="QR share, no cloud"/>
          <p:cNvPicPr>
            <a:picLocks noChangeAspect="1"/>
          </p:cNvPicPr>
          <p:nvPr/>
        </p:nvPicPr>
        <p:blipFill>
          <a:blip r:embed="rId8"/>
          <a:stretch>
            <a:fillRect/>
          </a:stretch>
        </p:blipFill>
        <p:spPr>
          <a:xfrm>
            <a:off x="4416552" y="3099816"/>
            <a:ext cx="310896" cy="310896"/>
          </a:xfrm>
          <a:prstGeom prst="rect">
            <a:avLst/>
          </a:prstGeom>
        </p:spPr>
      </p:pic>
      <p:sp>
        <p:nvSpPr>
          <p:cNvPr id="36" name="Feature 6 title"/>
          <p:cNvSpPr txBox="1"/>
          <p:nvPr/>
        </p:nvSpPr>
        <p:spPr>
          <a:xfrm>
            <a:off x="3709035" y="3611880"/>
            <a:ext cx="1725930" cy="274320"/>
          </a:xfrm>
          <a:prstGeom prst="rect">
            <a:avLst/>
          </a:prstGeom>
          <a:noFill/>
          <a:ln/>
        </p:spPr>
        <p:txBody>
          <a:bodyPr wrap="square" lIns="0" tIns="0" rIns="0" bIns="0" rtlCol="0" anchor="ctr"/>
          <a:lstStyle/>
          <a:p>
            <a:pPr marL="0" indent="0" algn="ctr">
              <a:buNone/>
            </a:pPr>
            <a:r>
              <a:rPr lang="en-US" sz="1150" b="1" dirty="0">
                <a:solidFill>
                  <a:srgbClr val="F4F4F5"/>
                </a:solidFill>
              </a:rPr>
              <a:t>QR share, no cloud</a:t>
            </a:r>
            <a:endParaRPr lang="en-US" sz="1150" dirty="0">
              <a:solidFill>
                <a:srgbClr val="F4F4F5"/>
              </a:solidFill>
            </a:endParaRPr>
          </a:p>
        </p:txBody>
      </p:sp>
      <p:sp>
        <p:nvSpPr>
          <p:cNvPr id="37" name="Feature 6 text"/>
          <p:cNvSpPr txBox="1"/>
          <p:nvPr/>
        </p:nvSpPr>
        <p:spPr>
          <a:xfrm>
            <a:off x="3727323" y="3886200"/>
            <a:ext cx="1689354" cy="566928"/>
          </a:xfrm>
          <a:prstGeom prst="rect">
            <a:avLst/>
          </a:prstGeom>
          <a:noFill/>
          <a:ln/>
        </p:spPr>
        <p:txBody>
          <a:bodyPr wrap="square" lIns="0" tIns="0" rIns="0" bIns="0" rtlCol="0" anchor="t"/>
          <a:lstStyle/>
          <a:p>
            <a:pPr marL="0" indent="0" algn="ctr">
              <a:buNone/>
            </a:pPr>
            <a:r>
              <a:rPr lang="en-US" sz="950" dirty="0">
                <a:solidFill>
                  <a:srgbClr val="A1A1AA"/>
                </a:solidFill>
              </a:rPr>
              <a:t>Your list on your phone over your own Wi-Fi; link expires in 10 min</a:t>
            </a:r>
            <a:endParaRPr lang="en-US" sz="950" dirty="0">
              <a:solidFill>
                <a:srgbClr val="F4F4F5"/>
              </a:solidFill>
            </a:endParaRPr>
          </a:p>
        </p:txBody>
      </p:sp>
      <p:sp>
        <p:nvSpPr>
          <p:cNvPr id="38" name="Feature 7 card"/>
          <p:cNvSpPr/>
          <p:nvPr/>
        </p:nvSpPr>
        <p:spPr>
          <a:xfrm>
            <a:off x="5755005" y="2834640"/>
            <a:ext cx="1908810" cy="1691640"/>
          </a:xfrm>
          <a:prstGeom prst="roundRect">
            <a:avLst>
              <a:gd name="adj" fmla="val 6486"/>
            </a:avLst>
          </a:prstGeom>
          <a:solidFill>
            <a:srgbClr val="1A1A1F"/>
          </a:solidFill>
          <a:ln w="9525">
            <a:solidFill>
              <a:srgbClr val="4A3026"/>
            </a:solidFill>
            <a:prstDash val="solid"/>
          </a:ln>
        </p:spPr>
      </p:sp>
      <p:sp>
        <p:nvSpPr>
          <p:cNvPr id="39" name="Feature 7 tile"/>
          <p:cNvSpPr/>
          <p:nvPr/>
        </p:nvSpPr>
        <p:spPr>
          <a:xfrm>
            <a:off x="6425946" y="2971800"/>
            <a:ext cx="566928" cy="566928"/>
          </a:xfrm>
          <a:prstGeom prst="roundRect">
            <a:avLst>
              <a:gd name="adj" fmla="val 19355"/>
            </a:avLst>
          </a:prstGeom>
          <a:solidFill>
            <a:srgbClr val="FF5F1F"/>
          </a:solidFill>
          <a:ln w="9525">
            <a:solidFill>
              <a:srgbClr val="FF6A2B"/>
            </a:solidFill>
            <a:prstDash val="solid"/>
          </a:ln>
        </p:spPr>
      </p:sp>
      <p:pic>
        <p:nvPicPr>
          <p:cNvPr id="40" name="Feature 7 icon" descr="Guest mode"/>
          <p:cNvPicPr>
            <a:picLocks noChangeAspect="1"/>
          </p:cNvPicPr>
          <p:nvPr/>
        </p:nvPicPr>
        <p:blipFill>
          <a:blip r:embed="rId9"/>
          <a:stretch>
            <a:fillRect/>
          </a:stretch>
        </p:blipFill>
        <p:spPr>
          <a:xfrm>
            <a:off x="6553962" y="3099816"/>
            <a:ext cx="310896" cy="310896"/>
          </a:xfrm>
          <a:prstGeom prst="rect">
            <a:avLst/>
          </a:prstGeom>
        </p:spPr>
      </p:pic>
      <p:sp>
        <p:nvSpPr>
          <p:cNvPr id="41" name="Feature 7 title"/>
          <p:cNvSpPr txBox="1"/>
          <p:nvPr/>
        </p:nvSpPr>
        <p:spPr>
          <a:xfrm>
            <a:off x="5846445" y="3611880"/>
            <a:ext cx="1725930" cy="274320"/>
          </a:xfrm>
          <a:prstGeom prst="rect">
            <a:avLst/>
          </a:prstGeom>
          <a:noFill/>
          <a:ln/>
        </p:spPr>
        <p:txBody>
          <a:bodyPr wrap="square" lIns="0" tIns="0" rIns="0" bIns="0" rtlCol="0" anchor="ctr"/>
          <a:lstStyle/>
          <a:p>
            <a:pPr marL="0" indent="0" algn="ctr">
              <a:buNone/>
            </a:pPr>
            <a:r>
              <a:rPr lang="en-US" sz="1150" b="1" dirty="0">
                <a:solidFill>
                  <a:srgbClr val="F4F4F5"/>
                </a:solidFill>
              </a:rPr>
              <a:t>Guest mode</a:t>
            </a:r>
            <a:endParaRPr lang="en-US" sz="1150" dirty="0">
              <a:solidFill>
                <a:srgbClr val="F4F4F5"/>
              </a:solidFill>
            </a:endParaRPr>
          </a:p>
        </p:txBody>
      </p:sp>
      <p:sp>
        <p:nvSpPr>
          <p:cNvPr id="42" name="Feature 7 text"/>
          <p:cNvSpPr txBox="1"/>
          <p:nvPr/>
        </p:nvSpPr>
        <p:spPr>
          <a:xfrm>
            <a:off x="5864733" y="3886200"/>
            <a:ext cx="1689354" cy="566928"/>
          </a:xfrm>
          <a:prstGeom prst="rect">
            <a:avLst/>
          </a:prstGeom>
          <a:noFill/>
          <a:ln/>
        </p:spPr>
        <p:txBody>
          <a:bodyPr wrap="square" lIns="0" tIns="0" rIns="0" bIns="0" rtlCol="0" anchor="t"/>
          <a:lstStyle/>
          <a:p>
            <a:pPr marL="0" indent="0" algn="ctr">
              <a:buNone/>
            </a:pPr>
            <a:r>
              <a:rPr lang="en-US" sz="950" dirty="0">
                <a:solidFill>
                  <a:srgbClr val="A1A1AA"/>
                </a:solidFill>
              </a:rPr>
              <a:t>Keeps your private things private while a friend is talking</a:t>
            </a:r>
            <a:endParaRPr lang="en-US" sz="950" dirty="0">
              <a:solidFill>
                <a:srgbClr val="F4F4F5"/>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2BF5944-5E86-6C7F-2189-B81D6D705A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482303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6" name="Title"/>
          <p:cNvSpPr txBox="1"/>
          <p:nvPr/>
        </p:nvSpPr>
        <p:spPr>
          <a:xfrm>
            <a:off x="1371600" y="54864"/>
            <a:ext cx="6400800" cy="457200"/>
          </a:xfrm>
          <a:prstGeom prst="rect">
            <a:avLst/>
          </a:prstGeom>
          <a:noFill/>
          <a:ln/>
        </p:spPr>
        <p:txBody>
          <a:bodyPr wrap="square" lIns="0" tIns="0" rIns="0" bIns="0" rtlCol="0" anchor="ctr"/>
          <a:lstStyle/>
          <a:p>
            <a:pPr marL="0" indent="0" algn="ctr">
              <a:buNone/>
            </a:pPr>
            <a:r>
              <a:rPr lang="en-US" sz="2800" b="1" dirty="0">
                <a:solidFill>
                  <a:srgbClr val="F4F4F5"/>
                </a:solidFill>
              </a:rPr>
              <a:t>Real Problems, Real Fixes</a:t>
            </a:r>
            <a:endParaRPr lang="en-US" sz="2800" dirty="0">
              <a:solidFill>
                <a:srgbClr val="F4F4F5"/>
              </a:solidFill>
            </a:endParaRPr>
          </a:p>
        </p:txBody>
      </p:sp>
      <p:sp>
        <p:nvSpPr>
          <p:cNvPr id="7" name="Subtitle"/>
          <p:cNvSpPr txBox="1"/>
          <p:nvPr/>
        </p:nvSpPr>
        <p:spPr>
          <a:xfrm>
            <a:off x="1097280" y="548640"/>
            <a:ext cx="6949440" cy="237744"/>
          </a:xfrm>
          <a:prstGeom prst="rect">
            <a:avLst/>
          </a:prstGeom>
          <a:noFill/>
          <a:ln/>
        </p:spPr>
        <p:txBody>
          <a:bodyPr wrap="square" lIns="0" tIns="0" rIns="0" bIns="0" rtlCol="0" anchor="ctr"/>
          <a:lstStyle/>
          <a:p>
            <a:pPr marL="0" indent="0" algn="ctr">
              <a:buNone/>
            </a:pPr>
            <a:r>
              <a:rPr lang="en-US" sz="1100" dirty="0">
                <a:solidFill>
                  <a:srgbClr val="A1A1AA"/>
                </a:solidFill>
              </a:rPr>
              <a:t>What we found building and testing on the real device, and how we fixed it</a:t>
            </a:r>
            <a:endParaRPr lang="en-US" sz="1100" dirty="0">
              <a:solidFill>
                <a:srgbClr val="F4F4F5"/>
              </a:solidFill>
            </a:endParaRPr>
          </a:p>
        </p:txBody>
      </p:sp>
      <p:sp>
        <p:nvSpPr>
          <p:cNvPr id="8" name="Item 1 tile"/>
          <p:cNvSpPr/>
          <p:nvPr/>
        </p:nvSpPr>
        <p:spPr>
          <a:xfrm>
            <a:off x="702945" y="1024128"/>
            <a:ext cx="1325880" cy="914400"/>
          </a:xfrm>
          <a:prstGeom prst="roundRect">
            <a:avLst>
              <a:gd name="adj" fmla="val 18000"/>
            </a:avLst>
          </a:prstGeom>
          <a:solidFill>
            <a:srgbClr val="1A1A1F"/>
          </a:solidFill>
          <a:ln w="12700">
            <a:solidFill>
              <a:srgbClr val="2C2C33"/>
            </a:solidFill>
            <a:prstDash val="solid"/>
          </a:ln>
        </p:spPr>
      </p:sp>
      <p:pic>
        <p:nvPicPr>
          <p:cNvPr id="9" name="Item 1 icon" descr="Mic noise"/>
          <p:cNvPicPr>
            <a:picLocks noChangeAspect="1"/>
          </p:cNvPicPr>
          <p:nvPr/>
        </p:nvPicPr>
        <p:blipFill>
          <a:blip r:embed="rId3"/>
          <a:stretch>
            <a:fillRect/>
          </a:stretch>
        </p:blipFill>
        <p:spPr>
          <a:xfrm>
            <a:off x="1155573" y="1271016"/>
            <a:ext cx="420624" cy="420624"/>
          </a:xfrm>
          <a:prstGeom prst="rect">
            <a:avLst/>
          </a:prstGeom>
        </p:spPr>
      </p:pic>
      <p:sp>
        <p:nvSpPr>
          <p:cNvPr id="10" name="Item 1 badge"/>
          <p:cNvSpPr/>
          <p:nvPr/>
        </p:nvSpPr>
        <p:spPr>
          <a:xfrm>
            <a:off x="584073" y="914400"/>
            <a:ext cx="365760" cy="365760"/>
          </a:xfrm>
          <a:prstGeom prst="ellipse">
            <a:avLst/>
          </a:prstGeom>
          <a:solidFill>
            <a:srgbClr val="1A1A1F"/>
          </a:solidFill>
          <a:ln w="22225">
            <a:solidFill>
              <a:srgbClr val="E0602A"/>
            </a:solidFill>
            <a:prstDash val="solid"/>
          </a:ln>
        </p:spPr>
      </p:sp>
      <p:sp>
        <p:nvSpPr>
          <p:cNvPr id="11" name="Item 1 number"/>
          <p:cNvSpPr txBox="1"/>
          <p:nvPr/>
        </p:nvSpPr>
        <p:spPr>
          <a:xfrm>
            <a:off x="584073" y="914400"/>
            <a:ext cx="365760" cy="365760"/>
          </a:xfrm>
          <a:prstGeom prst="rect">
            <a:avLst/>
          </a:prstGeom>
          <a:noFill/>
          <a:ln/>
        </p:spPr>
        <p:txBody>
          <a:bodyPr wrap="square" lIns="0" tIns="0" rIns="0" bIns="0" rtlCol="0" anchor="ctr"/>
          <a:lstStyle/>
          <a:p>
            <a:pPr marL="0" indent="0" algn="ctr">
              <a:buNone/>
            </a:pPr>
            <a:r>
              <a:rPr lang="en-US" sz="1100" b="1" dirty="0">
                <a:solidFill>
                  <a:srgbClr val="F4F4F5"/>
                </a:solidFill>
              </a:rPr>
              <a:t>1</a:t>
            </a:r>
            <a:endParaRPr lang="en-US" sz="1100" dirty="0">
              <a:solidFill>
                <a:srgbClr val="F4F4F5"/>
              </a:solidFill>
            </a:endParaRPr>
          </a:p>
        </p:txBody>
      </p:sp>
      <p:sp>
        <p:nvSpPr>
          <p:cNvPr id="12" name="Item 1 title"/>
          <p:cNvSpPr txBox="1"/>
          <p:nvPr/>
        </p:nvSpPr>
        <p:spPr>
          <a:xfrm>
            <a:off x="457200" y="2020824"/>
            <a:ext cx="1817370" cy="237744"/>
          </a:xfrm>
          <a:prstGeom prst="rect">
            <a:avLst/>
          </a:prstGeom>
          <a:noFill/>
          <a:ln/>
        </p:spPr>
        <p:txBody>
          <a:bodyPr wrap="square" lIns="0" tIns="0" rIns="0" bIns="0" rtlCol="0" anchor="ctr"/>
          <a:lstStyle/>
          <a:p>
            <a:pPr marL="0" indent="0" algn="ctr">
              <a:buNone/>
            </a:pPr>
            <a:r>
              <a:rPr lang="en-US" sz="1100" b="1" dirty="0">
                <a:solidFill>
                  <a:srgbClr val="F4F4F5"/>
                </a:solidFill>
              </a:rPr>
              <a:t>Mic noise</a:t>
            </a:r>
            <a:endParaRPr lang="en-US" sz="1100" dirty="0">
              <a:solidFill>
                <a:srgbClr val="F4F4F5"/>
              </a:solidFill>
            </a:endParaRPr>
          </a:p>
        </p:txBody>
      </p:sp>
      <p:sp>
        <p:nvSpPr>
          <p:cNvPr id="13" name="Item 1 fix"/>
          <p:cNvSpPr txBox="1"/>
          <p:nvPr/>
        </p:nvSpPr>
        <p:spPr>
          <a:xfrm>
            <a:off x="420624" y="2276856"/>
            <a:ext cx="1890522" cy="548640"/>
          </a:xfrm>
          <a:prstGeom prst="rect">
            <a:avLst/>
          </a:prstGeom>
          <a:noFill/>
          <a:ln/>
        </p:spPr>
        <p:txBody>
          <a:bodyPr wrap="square" lIns="0" tIns="0" rIns="0" bIns="0" rtlCol="0" anchor="t"/>
          <a:lstStyle/>
          <a:p>
            <a:pPr marL="0" indent="0" algn="ctr">
              <a:buNone/>
            </a:pPr>
            <a:r>
              <a:rPr lang="en-US" sz="950" dirty="0">
                <a:solidFill>
                  <a:srgbClr val="A1A1AA"/>
                </a:solidFill>
              </a:rPr>
              <a:t>Auto-gain off, gain lowered: noise dropped from 8775 to 136.</a:t>
            </a:r>
            <a:endParaRPr lang="en-US" sz="950" dirty="0">
              <a:solidFill>
                <a:srgbClr val="F4F4F5"/>
              </a:solidFill>
            </a:endParaRPr>
          </a:p>
        </p:txBody>
      </p:sp>
      <p:sp>
        <p:nvSpPr>
          <p:cNvPr id="14" name="Item 2 tile"/>
          <p:cNvSpPr/>
          <p:nvPr/>
        </p:nvSpPr>
        <p:spPr>
          <a:xfrm>
            <a:off x="2840355" y="1024128"/>
            <a:ext cx="1325880" cy="914400"/>
          </a:xfrm>
          <a:prstGeom prst="roundRect">
            <a:avLst>
              <a:gd name="adj" fmla="val 18000"/>
            </a:avLst>
          </a:prstGeom>
          <a:solidFill>
            <a:srgbClr val="2A1A14"/>
          </a:solidFill>
          <a:ln w="12700">
            <a:solidFill>
              <a:srgbClr val="4A3026"/>
            </a:solidFill>
            <a:prstDash val="solid"/>
          </a:ln>
        </p:spPr>
      </p:sp>
      <p:pic>
        <p:nvPicPr>
          <p:cNvPr id="15" name="Item 2 icon" descr="Hallucination"/>
          <p:cNvPicPr>
            <a:picLocks noChangeAspect="1"/>
          </p:cNvPicPr>
          <p:nvPr/>
        </p:nvPicPr>
        <p:blipFill>
          <a:blip r:embed="rId4"/>
          <a:stretch>
            <a:fillRect/>
          </a:stretch>
        </p:blipFill>
        <p:spPr>
          <a:xfrm>
            <a:off x="3292983" y="1271016"/>
            <a:ext cx="420624" cy="420624"/>
          </a:xfrm>
          <a:prstGeom prst="rect">
            <a:avLst/>
          </a:prstGeom>
        </p:spPr>
      </p:pic>
      <p:sp>
        <p:nvSpPr>
          <p:cNvPr id="16" name="Item 2 badge"/>
          <p:cNvSpPr/>
          <p:nvPr/>
        </p:nvSpPr>
        <p:spPr>
          <a:xfrm>
            <a:off x="2721483" y="914400"/>
            <a:ext cx="365760" cy="365760"/>
          </a:xfrm>
          <a:prstGeom prst="ellipse">
            <a:avLst/>
          </a:prstGeom>
          <a:solidFill>
            <a:srgbClr val="1A1A1F"/>
          </a:solidFill>
          <a:ln w="22225">
            <a:solidFill>
              <a:srgbClr val="E0602A"/>
            </a:solidFill>
            <a:prstDash val="solid"/>
          </a:ln>
        </p:spPr>
      </p:sp>
      <p:sp>
        <p:nvSpPr>
          <p:cNvPr id="17" name="Item 2 number"/>
          <p:cNvSpPr txBox="1"/>
          <p:nvPr/>
        </p:nvSpPr>
        <p:spPr>
          <a:xfrm>
            <a:off x="2721483" y="914400"/>
            <a:ext cx="365760" cy="365760"/>
          </a:xfrm>
          <a:prstGeom prst="rect">
            <a:avLst/>
          </a:prstGeom>
          <a:noFill/>
          <a:ln/>
        </p:spPr>
        <p:txBody>
          <a:bodyPr wrap="square" lIns="0" tIns="0" rIns="0" bIns="0" rtlCol="0" anchor="ctr"/>
          <a:lstStyle/>
          <a:p>
            <a:pPr marL="0" indent="0" algn="ctr">
              <a:buNone/>
            </a:pPr>
            <a:r>
              <a:rPr lang="en-US" sz="1100" b="1" dirty="0">
                <a:solidFill>
                  <a:srgbClr val="F4F4F5"/>
                </a:solidFill>
              </a:rPr>
              <a:t>2</a:t>
            </a:r>
            <a:endParaRPr lang="en-US" sz="1100" dirty="0">
              <a:solidFill>
                <a:srgbClr val="F4F4F5"/>
              </a:solidFill>
            </a:endParaRPr>
          </a:p>
        </p:txBody>
      </p:sp>
      <p:sp>
        <p:nvSpPr>
          <p:cNvPr id="18" name="Item 2 title"/>
          <p:cNvSpPr txBox="1"/>
          <p:nvPr/>
        </p:nvSpPr>
        <p:spPr>
          <a:xfrm>
            <a:off x="2594610" y="2020824"/>
            <a:ext cx="1817370" cy="237744"/>
          </a:xfrm>
          <a:prstGeom prst="rect">
            <a:avLst/>
          </a:prstGeom>
          <a:noFill/>
          <a:ln/>
        </p:spPr>
        <p:txBody>
          <a:bodyPr wrap="square" lIns="0" tIns="0" rIns="0" bIns="0" rtlCol="0" anchor="ctr"/>
          <a:lstStyle/>
          <a:p>
            <a:pPr marL="0" indent="0" algn="ctr">
              <a:buNone/>
            </a:pPr>
            <a:r>
              <a:rPr lang="en-US" sz="1100" b="1" dirty="0">
                <a:solidFill>
                  <a:srgbClr val="F4F4F5"/>
                </a:solidFill>
              </a:rPr>
              <a:t>Hallucination</a:t>
            </a:r>
            <a:endParaRPr lang="en-US" sz="1100" dirty="0">
              <a:solidFill>
                <a:srgbClr val="F4F4F5"/>
              </a:solidFill>
            </a:endParaRPr>
          </a:p>
        </p:txBody>
      </p:sp>
      <p:sp>
        <p:nvSpPr>
          <p:cNvPr id="19" name="Item 2 fix"/>
          <p:cNvSpPr txBox="1"/>
          <p:nvPr/>
        </p:nvSpPr>
        <p:spPr>
          <a:xfrm>
            <a:off x="2558034" y="2276856"/>
            <a:ext cx="1890522" cy="548640"/>
          </a:xfrm>
          <a:prstGeom prst="rect">
            <a:avLst/>
          </a:prstGeom>
          <a:noFill/>
          <a:ln/>
        </p:spPr>
        <p:txBody>
          <a:bodyPr wrap="square" lIns="0" tIns="0" rIns="0" bIns="0" rtlCol="0" anchor="t"/>
          <a:lstStyle/>
          <a:p>
            <a:pPr algn="ctr"/>
            <a:r>
              <a:rPr lang="en-US" sz="950" dirty="0">
                <a:solidFill>
                  <a:srgbClr val="F4F4F5"/>
                </a:solidFill>
              </a:rPr>
              <a:t>Code owns every fact; fake “I've done it” replies are blocked.</a:t>
            </a:r>
          </a:p>
        </p:txBody>
      </p:sp>
      <p:sp>
        <p:nvSpPr>
          <p:cNvPr id="20" name="Item 3 tile"/>
          <p:cNvSpPr/>
          <p:nvPr/>
        </p:nvSpPr>
        <p:spPr>
          <a:xfrm>
            <a:off x="4977765" y="1024128"/>
            <a:ext cx="1325880" cy="914400"/>
          </a:xfrm>
          <a:prstGeom prst="roundRect">
            <a:avLst>
              <a:gd name="adj" fmla="val 18000"/>
            </a:avLst>
          </a:prstGeom>
          <a:solidFill>
            <a:srgbClr val="E0602A"/>
          </a:solidFill>
          <a:ln w="12700">
            <a:solidFill>
              <a:srgbClr val="E0602A"/>
            </a:solidFill>
            <a:prstDash val="solid"/>
          </a:ln>
        </p:spPr>
      </p:sp>
      <p:pic>
        <p:nvPicPr>
          <p:cNvPr id="21" name="Item 3 icon" descr="Latency"/>
          <p:cNvPicPr>
            <a:picLocks noChangeAspect="1"/>
          </p:cNvPicPr>
          <p:nvPr/>
        </p:nvPicPr>
        <p:blipFill>
          <a:blip r:embed="rId5"/>
          <a:stretch>
            <a:fillRect/>
          </a:stretch>
        </p:blipFill>
        <p:spPr>
          <a:xfrm>
            <a:off x="5430393" y="1271016"/>
            <a:ext cx="420624" cy="420624"/>
          </a:xfrm>
          <a:prstGeom prst="rect">
            <a:avLst/>
          </a:prstGeom>
        </p:spPr>
      </p:pic>
      <p:sp>
        <p:nvSpPr>
          <p:cNvPr id="22" name="Item 3 badge"/>
          <p:cNvSpPr/>
          <p:nvPr/>
        </p:nvSpPr>
        <p:spPr>
          <a:xfrm>
            <a:off x="4858893" y="914400"/>
            <a:ext cx="365760" cy="365760"/>
          </a:xfrm>
          <a:prstGeom prst="ellipse">
            <a:avLst/>
          </a:prstGeom>
          <a:solidFill>
            <a:srgbClr val="1A1A1F"/>
          </a:solidFill>
          <a:ln w="22225">
            <a:solidFill>
              <a:srgbClr val="E0602A"/>
            </a:solidFill>
            <a:prstDash val="solid"/>
          </a:ln>
        </p:spPr>
      </p:sp>
      <p:sp>
        <p:nvSpPr>
          <p:cNvPr id="23" name="Item 3 number"/>
          <p:cNvSpPr txBox="1"/>
          <p:nvPr/>
        </p:nvSpPr>
        <p:spPr>
          <a:xfrm>
            <a:off x="4858893" y="914400"/>
            <a:ext cx="365760" cy="365760"/>
          </a:xfrm>
          <a:prstGeom prst="rect">
            <a:avLst/>
          </a:prstGeom>
          <a:noFill/>
          <a:ln/>
        </p:spPr>
        <p:txBody>
          <a:bodyPr wrap="square" lIns="0" tIns="0" rIns="0" bIns="0" rtlCol="0" anchor="ctr"/>
          <a:lstStyle/>
          <a:p>
            <a:pPr marL="0" indent="0" algn="ctr">
              <a:buNone/>
            </a:pPr>
            <a:r>
              <a:rPr lang="en-US" sz="1100" b="1" dirty="0">
                <a:solidFill>
                  <a:srgbClr val="F4F4F5"/>
                </a:solidFill>
              </a:rPr>
              <a:t>3</a:t>
            </a:r>
            <a:endParaRPr lang="en-US" sz="1100" dirty="0">
              <a:solidFill>
                <a:srgbClr val="F4F4F5"/>
              </a:solidFill>
            </a:endParaRPr>
          </a:p>
        </p:txBody>
      </p:sp>
      <p:sp>
        <p:nvSpPr>
          <p:cNvPr id="24" name="Item 3 title"/>
          <p:cNvSpPr txBox="1"/>
          <p:nvPr/>
        </p:nvSpPr>
        <p:spPr>
          <a:xfrm>
            <a:off x="4732020" y="2020824"/>
            <a:ext cx="1817370" cy="237744"/>
          </a:xfrm>
          <a:prstGeom prst="rect">
            <a:avLst/>
          </a:prstGeom>
          <a:noFill/>
          <a:ln/>
        </p:spPr>
        <p:txBody>
          <a:bodyPr wrap="square" lIns="0" tIns="0" rIns="0" bIns="0" rtlCol="0" anchor="ctr"/>
          <a:lstStyle/>
          <a:p>
            <a:pPr marL="0" indent="0" algn="ctr">
              <a:buNone/>
            </a:pPr>
            <a:r>
              <a:rPr lang="en-US" sz="1100" b="1" dirty="0">
                <a:solidFill>
                  <a:srgbClr val="F4F4F5"/>
                </a:solidFill>
              </a:rPr>
              <a:t>Latency</a:t>
            </a:r>
            <a:endParaRPr lang="en-US" sz="1100" dirty="0">
              <a:solidFill>
                <a:srgbClr val="F4F4F5"/>
              </a:solidFill>
            </a:endParaRPr>
          </a:p>
        </p:txBody>
      </p:sp>
      <p:sp>
        <p:nvSpPr>
          <p:cNvPr id="25" name="Item 3 fix"/>
          <p:cNvSpPr txBox="1"/>
          <p:nvPr/>
        </p:nvSpPr>
        <p:spPr>
          <a:xfrm>
            <a:off x="4695444" y="2276856"/>
            <a:ext cx="1890522" cy="548640"/>
          </a:xfrm>
          <a:prstGeom prst="rect">
            <a:avLst/>
          </a:prstGeom>
          <a:noFill/>
          <a:ln/>
        </p:spPr>
        <p:txBody>
          <a:bodyPr wrap="square" lIns="0" tIns="0" rIns="0" bIns="0" rtlCol="0" anchor="t"/>
          <a:lstStyle/>
          <a:p>
            <a:pPr marL="0" indent="0" algn="ctr">
              <a:buNone/>
            </a:pPr>
            <a:r>
              <a:rPr lang="en-US" sz="950" dirty="0">
                <a:solidFill>
                  <a:srgbClr val="A1A1AA"/>
                </a:solidFill>
              </a:rPr>
              <a:t>Whisper reads only the recorded audio: 5 s → 1.2 s per sentence.</a:t>
            </a:r>
            <a:endParaRPr lang="en-US" sz="950" dirty="0">
              <a:solidFill>
                <a:srgbClr val="F4F4F5"/>
              </a:solidFill>
            </a:endParaRPr>
          </a:p>
        </p:txBody>
      </p:sp>
      <p:sp>
        <p:nvSpPr>
          <p:cNvPr id="26" name="Item 4 tile"/>
          <p:cNvSpPr/>
          <p:nvPr/>
        </p:nvSpPr>
        <p:spPr>
          <a:xfrm>
            <a:off x="7115175" y="1024128"/>
            <a:ext cx="1325880" cy="914400"/>
          </a:xfrm>
          <a:prstGeom prst="roundRect">
            <a:avLst>
              <a:gd name="adj" fmla="val 18000"/>
            </a:avLst>
          </a:prstGeom>
          <a:solidFill>
            <a:srgbClr val="FF5F1F"/>
          </a:solidFill>
          <a:ln w="12700">
            <a:solidFill>
              <a:srgbClr val="FF6A2B"/>
            </a:solidFill>
            <a:prstDash val="solid"/>
          </a:ln>
        </p:spPr>
      </p:sp>
      <p:pic>
        <p:nvPicPr>
          <p:cNvPr id="27" name="Item 4 icon" descr="Efficiency"/>
          <p:cNvPicPr>
            <a:picLocks noChangeAspect="1"/>
          </p:cNvPicPr>
          <p:nvPr/>
        </p:nvPicPr>
        <p:blipFill>
          <a:blip r:embed="rId6"/>
          <a:stretch>
            <a:fillRect/>
          </a:stretch>
        </p:blipFill>
        <p:spPr>
          <a:xfrm>
            <a:off x="7567803" y="1271016"/>
            <a:ext cx="420624" cy="420624"/>
          </a:xfrm>
          <a:prstGeom prst="rect">
            <a:avLst/>
          </a:prstGeom>
        </p:spPr>
      </p:pic>
      <p:sp>
        <p:nvSpPr>
          <p:cNvPr id="28" name="Item 4 badge"/>
          <p:cNvSpPr/>
          <p:nvPr/>
        </p:nvSpPr>
        <p:spPr>
          <a:xfrm>
            <a:off x="6996303" y="914400"/>
            <a:ext cx="365760" cy="365760"/>
          </a:xfrm>
          <a:prstGeom prst="ellipse">
            <a:avLst/>
          </a:prstGeom>
          <a:solidFill>
            <a:srgbClr val="1A1A1F"/>
          </a:solidFill>
          <a:ln w="22225">
            <a:solidFill>
              <a:srgbClr val="E0602A"/>
            </a:solidFill>
            <a:prstDash val="solid"/>
          </a:ln>
        </p:spPr>
      </p:sp>
      <p:sp>
        <p:nvSpPr>
          <p:cNvPr id="29" name="Item 4 number"/>
          <p:cNvSpPr txBox="1"/>
          <p:nvPr/>
        </p:nvSpPr>
        <p:spPr>
          <a:xfrm>
            <a:off x="6996303" y="914400"/>
            <a:ext cx="365760" cy="365760"/>
          </a:xfrm>
          <a:prstGeom prst="rect">
            <a:avLst/>
          </a:prstGeom>
          <a:noFill/>
          <a:ln/>
        </p:spPr>
        <p:txBody>
          <a:bodyPr wrap="square" lIns="0" tIns="0" rIns="0" bIns="0" rtlCol="0" anchor="ctr"/>
          <a:lstStyle/>
          <a:p>
            <a:pPr marL="0" indent="0" algn="ctr">
              <a:buNone/>
            </a:pPr>
            <a:r>
              <a:rPr lang="en-US" sz="1100" b="1" dirty="0">
                <a:solidFill>
                  <a:srgbClr val="F4F4F5"/>
                </a:solidFill>
              </a:rPr>
              <a:t>4</a:t>
            </a:r>
            <a:endParaRPr lang="en-US" sz="1100" dirty="0">
              <a:solidFill>
                <a:srgbClr val="F4F4F5"/>
              </a:solidFill>
            </a:endParaRPr>
          </a:p>
        </p:txBody>
      </p:sp>
      <p:sp>
        <p:nvSpPr>
          <p:cNvPr id="30" name="Item 4 title"/>
          <p:cNvSpPr txBox="1"/>
          <p:nvPr/>
        </p:nvSpPr>
        <p:spPr>
          <a:xfrm>
            <a:off x="6869430" y="2020824"/>
            <a:ext cx="1817370" cy="237744"/>
          </a:xfrm>
          <a:prstGeom prst="rect">
            <a:avLst/>
          </a:prstGeom>
          <a:noFill/>
          <a:ln/>
        </p:spPr>
        <p:txBody>
          <a:bodyPr wrap="square" lIns="0" tIns="0" rIns="0" bIns="0" rtlCol="0" anchor="ctr"/>
          <a:lstStyle/>
          <a:p>
            <a:pPr marL="0" indent="0" algn="ctr">
              <a:buNone/>
            </a:pPr>
            <a:r>
              <a:rPr lang="en-US" sz="1100" b="1" dirty="0">
                <a:solidFill>
                  <a:srgbClr val="F4F4F5"/>
                </a:solidFill>
              </a:rPr>
              <a:t>Efficiency</a:t>
            </a:r>
            <a:endParaRPr lang="en-US" sz="1100" dirty="0">
              <a:solidFill>
                <a:srgbClr val="F4F4F5"/>
              </a:solidFill>
            </a:endParaRPr>
          </a:p>
        </p:txBody>
      </p:sp>
      <p:sp>
        <p:nvSpPr>
          <p:cNvPr id="31" name="Item 4 fix"/>
          <p:cNvSpPr txBox="1"/>
          <p:nvPr/>
        </p:nvSpPr>
        <p:spPr>
          <a:xfrm>
            <a:off x="6832854" y="2276856"/>
            <a:ext cx="1890522" cy="548640"/>
          </a:xfrm>
          <a:prstGeom prst="rect">
            <a:avLst/>
          </a:prstGeom>
          <a:noFill/>
          <a:ln/>
        </p:spPr>
        <p:txBody>
          <a:bodyPr wrap="square" lIns="0" tIns="0" rIns="0" bIns="0" rtlCol="0" anchor="t"/>
          <a:lstStyle/>
          <a:p>
            <a:pPr marL="0" indent="0" algn="ctr">
              <a:buNone/>
            </a:pPr>
            <a:r>
              <a:rPr lang="en-US" sz="950" dirty="0">
                <a:solidFill>
                  <a:srgbClr val="A1A1AA"/>
                </a:solidFill>
              </a:rPr>
              <a:t>Lists, reminders, games and emergencies need 0 AI calls.</a:t>
            </a:r>
            <a:endParaRPr lang="en-US" sz="950" dirty="0">
              <a:solidFill>
                <a:srgbClr val="F4F4F5"/>
              </a:solidFill>
            </a:endParaRPr>
          </a:p>
        </p:txBody>
      </p:sp>
      <p:sp>
        <p:nvSpPr>
          <p:cNvPr id="32" name="Item 5 tile"/>
          <p:cNvSpPr/>
          <p:nvPr/>
        </p:nvSpPr>
        <p:spPr>
          <a:xfrm>
            <a:off x="702945" y="2990088"/>
            <a:ext cx="1325880" cy="914400"/>
          </a:xfrm>
          <a:prstGeom prst="roundRect">
            <a:avLst>
              <a:gd name="adj" fmla="val 18000"/>
            </a:avLst>
          </a:prstGeom>
          <a:solidFill>
            <a:srgbClr val="1A1A1F"/>
          </a:solidFill>
          <a:ln w="12700">
            <a:solidFill>
              <a:srgbClr val="2C2C33"/>
            </a:solidFill>
            <a:prstDash val="solid"/>
          </a:ln>
        </p:spPr>
      </p:sp>
      <p:pic>
        <p:nvPicPr>
          <p:cNvPr id="33" name="Item 5 icon" descr="Scalability"/>
          <p:cNvPicPr>
            <a:picLocks noChangeAspect="1"/>
          </p:cNvPicPr>
          <p:nvPr/>
        </p:nvPicPr>
        <p:blipFill>
          <a:blip r:embed="rId7"/>
          <a:stretch>
            <a:fillRect/>
          </a:stretch>
        </p:blipFill>
        <p:spPr>
          <a:xfrm>
            <a:off x="1155573" y="3236976"/>
            <a:ext cx="420624" cy="420624"/>
          </a:xfrm>
          <a:prstGeom prst="rect">
            <a:avLst/>
          </a:prstGeom>
        </p:spPr>
      </p:pic>
      <p:sp>
        <p:nvSpPr>
          <p:cNvPr id="34" name="Item 5 badge"/>
          <p:cNvSpPr/>
          <p:nvPr/>
        </p:nvSpPr>
        <p:spPr>
          <a:xfrm>
            <a:off x="584073" y="2880360"/>
            <a:ext cx="365760" cy="365760"/>
          </a:xfrm>
          <a:prstGeom prst="ellipse">
            <a:avLst/>
          </a:prstGeom>
          <a:solidFill>
            <a:srgbClr val="1A1A1F"/>
          </a:solidFill>
          <a:ln w="22225">
            <a:solidFill>
              <a:srgbClr val="E0602A"/>
            </a:solidFill>
            <a:prstDash val="solid"/>
          </a:ln>
        </p:spPr>
      </p:sp>
      <p:sp>
        <p:nvSpPr>
          <p:cNvPr id="35" name="Item 5 number"/>
          <p:cNvSpPr txBox="1"/>
          <p:nvPr/>
        </p:nvSpPr>
        <p:spPr>
          <a:xfrm>
            <a:off x="584073" y="2880360"/>
            <a:ext cx="365760" cy="365760"/>
          </a:xfrm>
          <a:prstGeom prst="rect">
            <a:avLst/>
          </a:prstGeom>
          <a:noFill/>
          <a:ln/>
        </p:spPr>
        <p:txBody>
          <a:bodyPr wrap="square" lIns="0" tIns="0" rIns="0" bIns="0" rtlCol="0" anchor="ctr"/>
          <a:lstStyle/>
          <a:p>
            <a:pPr marL="0" indent="0" algn="ctr">
              <a:buNone/>
            </a:pPr>
            <a:r>
              <a:rPr lang="en-US" sz="1100" b="1" dirty="0">
                <a:solidFill>
                  <a:srgbClr val="F4F4F5"/>
                </a:solidFill>
              </a:rPr>
              <a:t>5</a:t>
            </a:r>
            <a:endParaRPr lang="en-US" sz="1100" dirty="0">
              <a:solidFill>
                <a:srgbClr val="F4F4F5"/>
              </a:solidFill>
            </a:endParaRPr>
          </a:p>
        </p:txBody>
      </p:sp>
      <p:sp>
        <p:nvSpPr>
          <p:cNvPr id="36" name="Item 5 title"/>
          <p:cNvSpPr txBox="1"/>
          <p:nvPr/>
        </p:nvSpPr>
        <p:spPr>
          <a:xfrm>
            <a:off x="457200" y="3986784"/>
            <a:ext cx="1817370" cy="237744"/>
          </a:xfrm>
          <a:prstGeom prst="rect">
            <a:avLst/>
          </a:prstGeom>
          <a:noFill/>
          <a:ln/>
        </p:spPr>
        <p:txBody>
          <a:bodyPr wrap="square" lIns="0" tIns="0" rIns="0" bIns="0" rtlCol="0" anchor="ctr"/>
          <a:lstStyle/>
          <a:p>
            <a:pPr marL="0" indent="0" algn="ctr">
              <a:buNone/>
            </a:pPr>
            <a:r>
              <a:rPr lang="en-US" sz="1100" b="1" dirty="0">
                <a:solidFill>
                  <a:srgbClr val="F4F4F5"/>
                </a:solidFill>
              </a:rPr>
              <a:t>Scalability</a:t>
            </a:r>
            <a:endParaRPr lang="en-US" sz="1100" dirty="0">
              <a:solidFill>
                <a:srgbClr val="F4F4F5"/>
              </a:solidFill>
            </a:endParaRPr>
          </a:p>
        </p:txBody>
      </p:sp>
      <p:sp>
        <p:nvSpPr>
          <p:cNvPr id="37" name="Item 5 fix"/>
          <p:cNvSpPr txBox="1"/>
          <p:nvPr/>
        </p:nvSpPr>
        <p:spPr>
          <a:xfrm>
            <a:off x="420624" y="4242816"/>
            <a:ext cx="1890522" cy="548640"/>
          </a:xfrm>
          <a:prstGeom prst="rect">
            <a:avLst/>
          </a:prstGeom>
          <a:noFill/>
          <a:ln/>
        </p:spPr>
        <p:txBody>
          <a:bodyPr wrap="square" lIns="0" tIns="0" rIns="0" bIns="0" rtlCol="0" anchor="t"/>
          <a:lstStyle/>
          <a:p>
            <a:pPr marL="0" indent="0" algn="ctr">
              <a:buNone/>
            </a:pPr>
            <a:r>
              <a:rPr lang="en-US" sz="950" dirty="0">
                <a:solidFill>
                  <a:srgbClr val="A1A1AA"/>
                </a:solidFill>
              </a:rPr>
              <a:t>Hardware sits in one layer; same code runs on Pi or laptop.</a:t>
            </a:r>
            <a:endParaRPr lang="en-US" sz="950" dirty="0">
              <a:solidFill>
                <a:srgbClr val="F4F4F5"/>
              </a:solidFill>
            </a:endParaRPr>
          </a:p>
        </p:txBody>
      </p:sp>
      <p:sp>
        <p:nvSpPr>
          <p:cNvPr id="38" name="Item 6 tile"/>
          <p:cNvSpPr/>
          <p:nvPr/>
        </p:nvSpPr>
        <p:spPr>
          <a:xfrm>
            <a:off x="2840355" y="2990088"/>
            <a:ext cx="1325880" cy="914400"/>
          </a:xfrm>
          <a:prstGeom prst="roundRect">
            <a:avLst>
              <a:gd name="adj" fmla="val 18000"/>
            </a:avLst>
          </a:prstGeom>
          <a:solidFill>
            <a:srgbClr val="2A1A14"/>
          </a:solidFill>
          <a:ln w="12700">
            <a:solidFill>
              <a:srgbClr val="4A3026"/>
            </a:solidFill>
            <a:prstDash val="solid"/>
          </a:ln>
        </p:spPr>
      </p:sp>
      <p:pic>
        <p:nvPicPr>
          <p:cNvPr id="39" name="Item 6 icon" descr="Accuracy"/>
          <p:cNvPicPr>
            <a:picLocks noChangeAspect="1"/>
          </p:cNvPicPr>
          <p:nvPr/>
        </p:nvPicPr>
        <p:blipFill>
          <a:blip r:embed="rId8"/>
          <a:stretch>
            <a:fillRect/>
          </a:stretch>
        </p:blipFill>
        <p:spPr>
          <a:xfrm>
            <a:off x="3292983" y="3236976"/>
            <a:ext cx="420624" cy="420624"/>
          </a:xfrm>
          <a:prstGeom prst="rect">
            <a:avLst/>
          </a:prstGeom>
        </p:spPr>
      </p:pic>
      <p:sp>
        <p:nvSpPr>
          <p:cNvPr id="40" name="Item 6 badge"/>
          <p:cNvSpPr/>
          <p:nvPr/>
        </p:nvSpPr>
        <p:spPr>
          <a:xfrm>
            <a:off x="2721483" y="2880360"/>
            <a:ext cx="365760" cy="365760"/>
          </a:xfrm>
          <a:prstGeom prst="ellipse">
            <a:avLst/>
          </a:prstGeom>
          <a:solidFill>
            <a:srgbClr val="1A1A1F"/>
          </a:solidFill>
          <a:ln w="22225">
            <a:solidFill>
              <a:srgbClr val="E0602A"/>
            </a:solidFill>
            <a:prstDash val="solid"/>
          </a:ln>
        </p:spPr>
      </p:sp>
      <p:sp>
        <p:nvSpPr>
          <p:cNvPr id="41" name="Item 6 number"/>
          <p:cNvSpPr txBox="1"/>
          <p:nvPr/>
        </p:nvSpPr>
        <p:spPr>
          <a:xfrm>
            <a:off x="2721483" y="2880360"/>
            <a:ext cx="365760" cy="365760"/>
          </a:xfrm>
          <a:prstGeom prst="rect">
            <a:avLst/>
          </a:prstGeom>
          <a:noFill/>
          <a:ln/>
        </p:spPr>
        <p:txBody>
          <a:bodyPr wrap="square" lIns="0" tIns="0" rIns="0" bIns="0" rtlCol="0" anchor="ctr"/>
          <a:lstStyle/>
          <a:p>
            <a:pPr marL="0" indent="0" algn="ctr">
              <a:buNone/>
            </a:pPr>
            <a:r>
              <a:rPr lang="en-US" sz="1100" b="1" dirty="0">
                <a:solidFill>
                  <a:srgbClr val="F4F4F5"/>
                </a:solidFill>
              </a:rPr>
              <a:t>6</a:t>
            </a:r>
            <a:endParaRPr lang="en-US" sz="1100" dirty="0">
              <a:solidFill>
                <a:srgbClr val="F4F4F5"/>
              </a:solidFill>
            </a:endParaRPr>
          </a:p>
        </p:txBody>
      </p:sp>
      <p:sp>
        <p:nvSpPr>
          <p:cNvPr id="42" name="Item 6 title"/>
          <p:cNvSpPr txBox="1"/>
          <p:nvPr/>
        </p:nvSpPr>
        <p:spPr>
          <a:xfrm>
            <a:off x="2594610" y="3986784"/>
            <a:ext cx="1817370" cy="237744"/>
          </a:xfrm>
          <a:prstGeom prst="rect">
            <a:avLst/>
          </a:prstGeom>
          <a:noFill/>
          <a:ln/>
        </p:spPr>
        <p:txBody>
          <a:bodyPr wrap="square" lIns="0" tIns="0" rIns="0" bIns="0" rtlCol="0" anchor="ctr"/>
          <a:lstStyle/>
          <a:p>
            <a:pPr marL="0" indent="0" algn="ctr">
              <a:buNone/>
            </a:pPr>
            <a:r>
              <a:rPr lang="en-US" sz="1100" b="1" dirty="0">
                <a:solidFill>
                  <a:srgbClr val="F4F4F5"/>
                </a:solidFill>
              </a:rPr>
              <a:t>Accuracy</a:t>
            </a:r>
            <a:endParaRPr lang="en-US" sz="1100" dirty="0">
              <a:solidFill>
                <a:srgbClr val="F4F4F5"/>
              </a:solidFill>
            </a:endParaRPr>
          </a:p>
        </p:txBody>
      </p:sp>
      <p:sp>
        <p:nvSpPr>
          <p:cNvPr id="43" name="Item 6 fix"/>
          <p:cNvSpPr txBox="1"/>
          <p:nvPr/>
        </p:nvSpPr>
        <p:spPr>
          <a:xfrm>
            <a:off x="2558034" y="4242816"/>
            <a:ext cx="1890522" cy="548640"/>
          </a:xfrm>
          <a:prstGeom prst="rect">
            <a:avLst/>
          </a:prstGeom>
          <a:noFill/>
          <a:ln/>
        </p:spPr>
        <p:txBody>
          <a:bodyPr wrap="square" lIns="0" tIns="0" rIns="0" bIns="0" rtlCol="0" anchor="t"/>
          <a:lstStyle/>
          <a:p>
            <a:pPr marL="0" indent="0" algn="ctr">
              <a:buNone/>
            </a:pPr>
            <a:r>
              <a:rPr lang="en-US" sz="950" dirty="0">
                <a:solidFill>
                  <a:srgbClr val="A1A1AA"/>
                </a:solidFill>
              </a:rPr>
              <a:t>Below 0.85 confidence, Jarvis says “I'm not sure” instead of guessing.</a:t>
            </a:r>
            <a:endParaRPr lang="en-US" sz="950" dirty="0">
              <a:solidFill>
                <a:srgbClr val="F4F4F5"/>
              </a:solidFill>
            </a:endParaRPr>
          </a:p>
        </p:txBody>
      </p:sp>
      <p:sp>
        <p:nvSpPr>
          <p:cNvPr id="44" name="Item 7 tile"/>
          <p:cNvSpPr/>
          <p:nvPr/>
        </p:nvSpPr>
        <p:spPr>
          <a:xfrm>
            <a:off x="4977765" y="2990088"/>
            <a:ext cx="1325880" cy="914400"/>
          </a:xfrm>
          <a:prstGeom prst="roundRect">
            <a:avLst>
              <a:gd name="adj" fmla="val 18000"/>
            </a:avLst>
          </a:prstGeom>
          <a:solidFill>
            <a:srgbClr val="E0602A"/>
          </a:solidFill>
          <a:ln w="12700">
            <a:solidFill>
              <a:srgbClr val="E0602A"/>
            </a:solidFill>
            <a:prstDash val="solid"/>
          </a:ln>
        </p:spPr>
      </p:sp>
      <p:pic>
        <p:nvPicPr>
          <p:cNvPr id="45" name="Item 7 icon" descr="Feasibility"/>
          <p:cNvPicPr>
            <a:picLocks noChangeAspect="1"/>
          </p:cNvPicPr>
          <p:nvPr/>
        </p:nvPicPr>
        <p:blipFill>
          <a:blip r:embed="rId9"/>
          <a:stretch>
            <a:fillRect/>
          </a:stretch>
        </p:blipFill>
        <p:spPr>
          <a:xfrm>
            <a:off x="5430393" y="3236976"/>
            <a:ext cx="420624" cy="420624"/>
          </a:xfrm>
          <a:prstGeom prst="rect">
            <a:avLst/>
          </a:prstGeom>
        </p:spPr>
      </p:pic>
      <p:sp>
        <p:nvSpPr>
          <p:cNvPr id="46" name="Item 7 badge"/>
          <p:cNvSpPr/>
          <p:nvPr/>
        </p:nvSpPr>
        <p:spPr>
          <a:xfrm>
            <a:off x="4858893" y="2880360"/>
            <a:ext cx="365760" cy="365760"/>
          </a:xfrm>
          <a:prstGeom prst="ellipse">
            <a:avLst/>
          </a:prstGeom>
          <a:solidFill>
            <a:srgbClr val="1A1A1F"/>
          </a:solidFill>
          <a:ln w="22225">
            <a:solidFill>
              <a:srgbClr val="E0602A"/>
            </a:solidFill>
            <a:prstDash val="solid"/>
          </a:ln>
        </p:spPr>
      </p:sp>
      <p:sp>
        <p:nvSpPr>
          <p:cNvPr id="47" name="Item 7 number"/>
          <p:cNvSpPr txBox="1"/>
          <p:nvPr/>
        </p:nvSpPr>
        <p:spPr>
          <a:xfrm>
            <a:off x="4858893" y="2880360"/>
            <a:ext cx="365760" cy="365760"/>
          </a:xfrm>
          <a:prstGeom prst="rect">
            <a:avLst/>
          </a:prstGeom>
          <a:noFill/>
          <a:ln/>
        </p:spPr>
        <p:txBody>
          <a:bodyPr wrap="square" lIns="0" tIns="0" rIns="0" bIns="0" rtlCol="0" anchor="ctr"/>
          <a:lstStyle/>
          <a:p>
            <a:pPr marL="0" indent="0" algn="ctr">
              <a:buNone/>
            </a:pPr>
            <a:r>
              <a:rPr lang="en-US" sz="1100" b="1" dirty="0">
                <a:solidFill>
                  <a:srgbClr val="F4F4F5"/>
                </a:solidFill>
              </a:rPr>
              <a:t>7</a:t>
            </a:r>
            <a:endParaRPr lang="en-US" sz="1100" dirty="0">
              <a:solidFill>
                <a:srgbClr val="F4F4F5"/>
              </a:solidFill>
            </a:endParaRPr>
          </a:p>
        </p:txBody>
      </p:sp>
      <p:sp>
        <p:nvSpPr>
          <p:cNvPr id="48" name="Item 7 title"/>
          <p:cNvSpPr txBox="1"/>
          <p:nvPr/>
        </p:nvSpPr>
        <p:spPr>
          <a:xfrm>
            <a:off x="4732020" y="3986784"/>
            <a:ext cx="1817370" cy="237744"/>
          </a:xfrm>
          <a:prstGeom prst="rect">
            <a:avLst/>
          </a:prstGeom>
          <a:noFill/>
          <a:ln/>
        </p:spPr>
        <p:txBody>
          <a:bodyPr wrap="square" lIns="0" tIns="0" rIns="0" bIns="0" rtlCol="0" anchor="ctr"/>
          <a:lstStyle/>
          <a:p>
            <a:pPr marL="0" indent="0" algn="ctr">
              <a:buNone/>
            </a:pPr>
            <a:r>
              <a:rPr lang="en-US" sz="1100" b="1" dirty="0">
                <a:solidFill>
                  <a:srgbClr val="F4F4F5"/>
                </a:solidFill>
              </a:rPr>
              <a:t>Feasibility</a:t>
            </a:r>
            <a:endParaRPr lang="en-US" sz="1100" dirty="0">
              <a:solidFill>
                <a:srgbClr val="F4F4F5"/>
              </a:solidFill>
            </a:endParaRPr>
          </a:p>
        </p:txBody>
      </p:sp>
      <p:sp>
        <p:nvSpPr>
          <p:cNvPr id="49" name="Item 7 fix"/>
          <p:cNvSpPr txBox="1"/>
          <p:nvPr/>
        </p:nvSpPr>
        <p:spPr>
          <a:xfrm>
            <a:off x="4695444" y="4242816"/>
            <a:ext cx="1890522" cy="548640"/>
          </a:xfrm>
          <a:prstGeom prst="rect">
            <a:avLst/>
          </a:prstGeom>
          <a:noFill/>
          <a:ln/>
        </p:spPr>
        <p:txBody>
          <a:bodyPr wrap="square" lIns="0" tIns="0" rIns="0" bIns="0" rtlCol="0" anchor="t"/>
          <a:lstStyle/>
          <a:p>
            <a:pPr marL="0" indent="0" algn="ctr">
              <a:buNone/>
            </a:pPr>
            <a:r>
              <a:rPr lang="en-US" sz="950" dirty="0">
                <a:solidFill>
                  <a:srgbClr val="A1A1AA"/>
                </a:solidFill>
              </a:rPr>
              <a:t>Runs fully on a Raspberry Pi 5 with free open-source models.</a:t>
            </a:r>
            <a:endParaRPr lang="en-US" sz="950" dirty="0">
              <a:solidFill>
                <a:srgbClr val="F4F4F5"/>
              </a:solidFill>
            </a:endParaRPr>
          </a:p>
        </p:txBody>
      </p:sp>
      <p:sp>
        <p:nvSpPr>
          <p:cNvPr id="50" name="Item 8 tile"/>
          <p:cNvSpPr/>
          <p:nvPr/>
        </p:nvSpPr>
        <p:spPr>
          <a:xfrm>
            <a:off x="7115175" y="2990088"/>
            <a:ext cx="1325880" cy="914400"/>
          </a:xfrm>
          <a:prstGeom prst="roundRect">
            <a:avLst>
              <a:gd name="adj" fmla="val 18000"/>
            </a:avLst>
          </a:prstGeom>
          <a:solidFill>
            <a:srgbClr val="FF5F1F"/>
          </a:solidFill>
          <a:ln w="12700">
            <a:solidFill>
              <a:srgbClr val="FF6A2B"/>
            </a:solidFill>
            <a:prstDash val="solid"/>
          </a:ln>
        </p:spPr>
      </p:sp>
      <p:pic>
        <p:nvPicPr>
          <p:cNvPr id="51" name="Item 8 icon" descr="Privacy"/>
          <p:cNvPicPr>
            <a:picLocks noChangeAspect="1"/>
          </p:cNvPicPr>
          <p:nvPr/>
        </p:nvPicPr>
        <p:blipFill>
          <a:blip r:embed="rId10"/>
          <a:stretch>
            <a:fillRect/>
          </a:stretch>
        </p:blipFill>
        <p:spPr>
          <a:xfrm>
            <a:off x="7567803" y="3236976"/>
            <a:ext cx="420624" cy="420624"/>
          </a:xfrm>
          <a:prstGeom prst="rect">
            <a:avLst/>
          </a:prstGeom>
        </p:spPr>
      </p:pic>
      <p:sp>
        <p:nvSpPr>
          <p:cNvPr id="52" name="Item 8 badge"/>
          <p:cNvSpPr/>
          <p:nvPr/>
        </p:nvSpPr>
        <p:spPr>
          <a:xfrm>
            <a:off x="6996303" y="2880360"/>
            <a:ext cx="365760" cy="365760"/>
          </a:xfrm>
          <a:prstGeom prst="ellipse">
            <a:avLst/>
          </a:prstGeom>
          <a:solidFill>
            <a:srgbClr val="1A1A1F"/>
          </a:solidFill>
          <a:ln w="22225">
            <a:solidFill>
              <a:srgbClr val="E0602A"/>
            </a:solidFill>
            <a:prstDash val="solid"/>
          </a:ln>
        </p:spPr>
      </p:sp>
      <p:sp>
        <p:nvSpPr>
          <p:cNvPr id="53" name="Item 8 number"/>
          <p:cNvSpPr txBox="1"/>
          <p:nvPr/>
        </p:nvSpPr>
        <p:spPr>
          <a:xfrm>
            <a:off x="6996303" y="2880360"/>
            <a:ext cx="365760" cy="365760"/>
          </a:xfrm>
          <a:prstGeom prst="rect">
            <a:avLst/>
          </a:prstGeom>
          <a:noFill/>
          <a:ln/>
        </p:spPr>
        <p:txBody>
          <a:bodyPr wrap="square" lIns="0" tIns="0" rIns="0" bIns="0" rtlCol="0" anchor="ctr"/>
          <a:lstStyle/>
          <a:p>
            <a:pPr marL="0" indent="0" algn="ctr">
              <a:buNone/>
            </a:pPr>
            <a:r>
              <a:rPr lang="en-US" sz="1100" b="1" dirty="0">
                <a:solidFill>
                  <a:srgbClr val="F4F4F5"/>
                </a:solidFill>
              </a:rPr>
              <a:t>8</a:t>
            </a:r>
            <a:endParaRPr lang="en-US" sz="1100" dirty="0">
              <a:solidFill>
                <a:srgbClr val="F4F4F5"/>
              </a:solidFill>
            </a:endParaRPr>
          </a:p>
        </p:txBody>
      </p:sp>
      <p:sp>
        <p:nvSpPr>
          <p:cNvPr id="54" name="Item 8 title"/>
          <p:cNvSpPr txBox="1"/>
          <p:nvPr/>
        </p:nvSpPr>
        <p:spPr>
          <a:xfrm>
            <a:off x="6869430" y="3986784"/>
            <a:ext cx="1817370" cy="237744"/>
          </a:xfrm>
          <a:prstGeom prst="rect">
            <a:avLst/>
          </a:prstGeom>
          <a:noFill/>
          <a:ln/>
        </p:spPr>
        <p:txBody>
          <a:bodyPr wrap="square" lIns="0" tIns="0" rIns="0" bIns="0" rtlCol="0" anchor="ctr"/>
          <a:lstStyle/>
          <a:p>
            <a:pPr marL="0" indent="0" algn="ctr">
              <a:buNone/>
            </a:pPr>
            <a:r>
              <a:rPr lang="en-US" sz="1100" b="1" dirty="0">
                <a:solidFill>
                  <a:srgbClr val="F4F4F5"/>
                </a:solidFill>
              </a:rPr>
              <a:t>Privacy</a:t>
            </a:r>
            <a:endParaRPr lang="en-US" sz="1100" dirty="0">
              <a:solidFill>
                <a:srgbClr val="F4F4F5"/>
              </a:solidFill>
            </a:endParaRPr>
          </a:p>
        </p:txBody>
      </p:sp>
      <p:sp>
        <p:nvSpPr>
          <p:cNvPr id="55" name="Item 8 fix"/>
          <p:cNvSpPr txBox="1"/>
          <p:nvPr/>
        </p:nvSpPr>
        <p:spPr>
          <a:xfrm>
            <a:off x="6832854" y="4242816"/>
            <a:ext cx="1890522" cy="548640"/>
          </a:xfrm>
          <a:prstGeom prst="rect">
            <a:avLst/>
          </a:prstGeom>
          <a:noFill/>
          <a:ln/>
        </p:spPr>
        <p:txBody>
          <a:bodyPr wrap="square" lIns="0" tIns="0" rIns="0" bIns="0" rtlCol="0" anchor="t"/>
          <a:lstStyle/>
          <a:p>
            <a:pPr marL="0" indent="0" algn="ctr">
              <a:buNone/>
            </a:pPr>
            <a:r>
              <a:rPr lang="en-US" sz="950" dirty="0">
                <a:solidFill>
                  <a:srgbClr val="A1A1AA"/>
                </a:solidFill>
              </a:rPr>
              <a:t>Only a city or topic goes online, and every call is shown on screen.</a:t>
            </a:r>
            <a:endParaRPr lang="en-US" sz="950" dirty="0">
              <a:solidFill>
                <a:srgbClr val="F4F4F5"/>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6" name="Title"/>
          <p:cNvSpPr txBox="1"/>
          <p:nvPr/>
        </p:nvSpPr>
        <p:spPr>
          <a:xfrm>
            <a:off x="396240" y="1143000"/>
            <a:ext cx="1905000" cy="457200"/>
          </a:xfrm>
          <a:prstGeom prst="rect">
            <a:avLst/>
          </a:prstGeom>
          <a:noFill/>
          <a:ln/>
        </p:spPr>
        <p:txBody>
          <a:bodyPr wrap="square" lIns="0" tIns="0" rIns="0" bIns="0" rtlCol="0" anchor="ctr"/>
          <a:lstStyle/>
          <a:p>
            <a:pPr marL="0" indent="0">
              <a:buNone/>
            </a:pPr>
            <a:r>
              <a:rPr lang="en-US" sz="3200" b="1" dirty="0">
                <a:solidFill>
                  <a:srgbClr val="F4F4F5"/>
                </a:solidFill>
              </a:rPr>
              <a:t>Results</a:t>
            </a:r>
            <a:endParaRPr lang="en-US" sz="3200" dirty="0">
              <a:solidFill>
                <a:srgbClr val="F4F4F5"/>
              </a:solidFill>
            </a:endParaRPr>
          </a:p>
        </p:txBody>
      </p:sp>
      <p:pic>
        <p:nvPicPr>
          <p:cNvPr id="7" name="Device photo" descr="The Jarvis device: Raspberry Pi 5, touch screen showing Jarvis's face, USB microphone, green and red LEDs"/>
          <p:cNvPicPr>
            <a:picLocks noChangeAspect="1"/>
          </p:cNvPicPr>
          <p:nvPr/>
        </p:nvPicPr>
        <p:blipFill>
          <a:blip r:embed="rId3"/>
          <a:stretch>
            <a:fillRect/>
          </a:stretch>
        </p:blipFill>
        <p:spPr>
          <a:xfrm>
            <a:off x="396240" y="1767840"/>
            <a:ext cx="2011680" cy="1149531"/>
          </a:xfrm>
          <a:prstGeom prst="rect">
            <a:avLst/>
          </a:prstGeom>
        </p:spPr>
      </p:pic>
      <p:sp>
        <p:nvSpPr>
          <p:cNvPr id="8" name="Photo caption"/>
          <p:cNvSpPr txBox="1"/>
          <p:nvPr/>
        </p:nvSpPr>
        <p:spPr>
          <a:xfrm>
            <a:off x="396240" y="2972235"/>
            <a:ext cx="2011680" cy="219456"/>
          </a:xfrm>
          <a:prstGeom prst="rect">
            <a:avLst/>
          </a:prstGeom>
          <a:noFill/>
          <a:ln/>
        </p:spPr>
        <p:txBody>
          <a:bodyPr wrap="square" lIns="0" tIns="0" rIns="0" bIns="0" rtlCol="0" anchor="ctr"/>
          <a:lstStyle/>
          <a:p>
            <a:pPr marL="0" indent="0" algn="ctr">
              <a:buNone/>
            </a:pPr>
            <a:r>
              <a:rPr lang="en-US" sz="950" i="1" dirty="0">
                <a:solidFill>
                  <a:srgbClr val="A1A1AA"/>
                </a:solidFill>
              </a:rPr>
              <a:t>Our working device</a:t>
            </a:r>
            <a:endParaRPr lang="en-US" sz="950" dirty="0">
              <a:solidFill>
                <a:srgbClr val="F4F4F5"/>
              </a:solidFill>
            </a:endParaRPr>
          </a:p>
        </p:txBody>
      </p:sp>
      <p:sp>
        <p:nvSpPr>
          <p:cNvPr id="9" name="Result 1 circle"/>
          <p:cNvSpPr/>
          <p:nvPr/>
        </p:nvSpPr>
        <p:spPr>
          <a:xfrm>
            <a:off x="2514600" y="685800"/>
            <a:ext cx="1752600" cy="1752600"/>
          </a:xfrm>
          <a:prstGeom prst="ellipse">
            <a:avLst/>
          </a:prstGeom>
          <a:solidFill>
            <a:srgbClr val="1A1A1F"/>
          </a:solidFill>
          <a:ln w="12700">
            <a:solidFill>
              <a:srgbClr val="2C2C33"/>
            </a:solidFill>
            <a:prstDash val="solid"/>
          </a:ln>
        </p:spPr>
      </p:sp>
      <p:pic>
        <p:nvPicPr>
          <p:cNvPr id="10" name="Result 1 icon" descr="188 / 188"/>
          <p:cNvPicPr>
            <a:picLocks noChangeAspect="1"/>
          </p:cNvPicPr>
          <p:nvPr/>
        </p:nvPicPr>
        <p:blipFill>
          <a:blip r:embed="rId4"/>
          <a:stretch>
            <a:fillRect/>
          </a:stretch>
        </p:blipFill>
        <p:spPr>
          <a:xfrm>
            <a:off x="3116580" y="1287780"/>
            <a:ext cx="548640" cy="548640"/>
          </a:xfrm>
          <a:prstGeom prst="rect">
            <a:avLst/>
          </a:prstGeom>
        </p:spPr>
      </p:pic>
      <p:sp>
        <p:nvSpPr>
          <p:cNvPr id="11" name="Result 1 arrow"/>
          <p:cNvSpPr/>
          <p:nvPr/>
        </p:nvSpPr>
        <p:spPr>
          <a:xfrm>
            <a:off x="3390900" y="2514600"/>
            <a:ext cx="914" cy="320040"/>
          </a:xfrm>
          <a:prstGeom prst="line">
            <a:avLst/>
          </a:prstGeom>
          <a:noFill/>
          <a:ln w="12700">
            <a:solidFill>
              <a:srgbClr val="3A3A42"/>
            </a:solidFill>
            <a:prstDash val="dash"/>
            <a:tailEnd type="triangle"/>
          </a:ln>
        </p:spPr>
      </p:sp>
      <p:sp>
        <p:nvSpPr>
          <p:cNvPr id="12" name="Result 1 value"/>
          <p:cNvSpPr txBox="1"/>
          <p:nvPr/>
        </p:nvSpPr>
        <p:spPr>
          <a:xfrm>
            <a:off x="2613660" y="2910840"/>
            <a:ext cx="1554480" cy="274320"/>
          </a:xfrm>
          <a:prstGeom prst="rect">
            <a:avLst/>
          </a:prstGeom>
          <a:noFill/>
          <a:ln/>
        </p:spPr>
        <p:txBody>
          <a:bodyPr wrap="square" lIns="0" tIns="0" rIns="0" bIns="0" rtlCol="0" anchor="ctr"/>
          <a:lstStyle/>
          <a:p>
            <a:pPr marL="0" indent="0" algn="ctr">
              <a:buNone/>
            </a:pPr>
            <a:r>
              <a:rPr lang="en-US" sz="1500" b="1" dirty="0">
                <a:solidFill>
                  <a:srgbClr val="F4F4F5"/>
                </a:solidFill>
              </a:rPr>
              <a:t>188 / 188</a:t>
            </a:r>
            <a:endParaRPr lang="en-US" sz="1500" dirty="0">
              <a:solidFill>
                <a:srgbClr val="F4F4F5"/>
              </a:solidFill>
            </a:endParaRPr>
          </a:p>
        </p:txBody>
      </p:sp>
      <p:sp>
        <p:nvSpPr>
          <p:cNvPr id="13" name="Result 1 label"/>
          <p:cNvSpPr txBox="1"/>
          <p:nvPr/>
        </p:nvSpPr>
        <p:spPr>
          <a:xfrm>
            <a:off x="2641092" y="3238500"/>
            <a:ext cx="1499616" cy="457200"/>
          </a:xfrm>
          <a:prstGeom prst="rect">
            <a:avLst/>
          </a:prstGeom>
          <a:noFill/>
          <a:ln/>
        </p:spPr>
        <p:txBody>
          <a:bodyPr wrap="square" lIns="0" tIns="0" rIns="0" bIns="0" rtlCol="0" anchor="t"/>
          <a:lstStyle/>
          <a:p>
            <a:pPr marL="0" indent="0" algn="ctr">
              <a:buNone/>
            </a:pPr>
            <a:r>
              <a:rPr lang="en-US" sz="1050" dirty="0">
                <a:solidFill>
                  <a:srgbClr val="A1A1AA"/>
                </a:solidFill>
              </a:rPr>
              <a:t>test conversations pass on the Pi</a:t>
            </a:r>
            <a:endParaRPr lang="en-US" sz="1050" dirty="0">
              <a:solidFill>
                <a:srgbClr val="F4F4F5"/>
              </a:solidFill>
            </a:endParaRPr>
          </a:p>
        </p:txBody>
      </p:sp>
      <p:sp>
        <p:nvSpPr>
          <p:cNvPr id="14" name="Result 2 circle"/>
          <p:cNvSpPr/>
          <p:nvPr/>
        </p:nvSpPr>
        <p:spPr>
          <a:xfrm>
            <a:off x="4000500" y="685800"/>
            <a:ext cx="1752600" cy="1752600"/>
          </a:xfrm>
          <a:prstGeom prst="ellipse">
            <a:avLst/>
          </a:prstGeom>
          <a:solidFill>
            <a:srgbClr val="E0602A"/>
          </a:solidFill>
          <a:ln w="12700">
            <a:solidFill>
              <a:srgbClr val="E0602A"/>
            </a:solidFill>
            <a:prstDash val="solid"/>
          </a:ln>
        </p:spPr>
      </p:sp>
      <p:pic>
        <p:nvPicPr>
          <p:cNvPr id="15" name="Result 2 icon" descr="~1.2 s"/>
          <p:cNvPicPr>
            <a:picLocks noChangeAspect="1"/>
          </p:cNvPicPr>
          <p:nvPr/>
        </p:nvPicPr>
        <p:blipFill>
          <a:blip r:embed="rId5"/>
          <a:stretch>
            <a:fillRect/>
          </a:stretch>
        </p:blipFill>
        <p:spPr>
          <a:xfrm>
            <a:off x="4602480" y="1287780"/>
            <a:ext cx="548640" cy="548640"/>
          </a:xfrm>
          <a:prstGeom prst="rect">
            <a:avLst/>
          </a:prstGeom>
        </p:spPr>
      </p:pic>
      <p:sp>
        <p:nvSpPr>
          <p:cNvPr id="16" name="Result 2 arrow"/>
          <p:cNvSpPr/>
          <p:nvPr/>
        </p:nvSpPr>
        <p:spPr>
          <a:xfrm>
            <a:off x="4876800" y="2514600"/>
            <a:ext cx="914" cy="320040"/>
          </a:xfrm>
          <a:prstGeom prst="line">
            <a:avLst/>
          </a:prstGeom>
          <a:noFill/>
          <a:ln w="12700">
            <a:solidFill>
              <a:srgbClr val="3A3A42"/>
            </a:solidFill>
            <a:prstDash val="dash"/>
            <a:tailEnd type="triangle"/>
          </a:ln>
        </p:spPr>
      </p:sp>
      <p:sp>
        <p:nvSpPr>
          <p:cNvPr id="17" name="Result 2 value"/>
          <p:cNvSpPr txBox="1"/>
          <p:nvPr/>
        </p:nvSpPr>
        <p:spPr>
          <a:xfrm>
            <a:off x="4099560" y="2910840"/>
            <a:ext cx="1554480" cy="274320"/>
          </a:xfrm>
          <a:prstGeom prst="rect">
            <a:avLst/>
          </a:prstGeom>
          <a:noFill/>
          <a:ln/>
        </p:spPr>
        <p:txBody>
          <a:bodyPr wrap="square" lIns="0" tIns="0" rIns="0" bIns="0" rtlCol="0" anchor="ctr"/>
          <a:lstStyle/>
          <a:p>
            <a:pPr marL="0" indent="0" algn="ctr">
              <a:buNone/>
            </a:pPr>
            <a:r>
              <a:rPr lang="en-US" sz="1500" b="1" dirty="0">
                <a:solidFill>
                  <a:srgbClr val="F4F4F5"/>
                </a:solidFill>
              </a:rPr>
              <a:t>~1.2 s</a:t>
            </a:r>
            <a:endParaRPr lang="en-US" sz="1500" dirty="0">
              <a:solidFill>
                <a:srgbClr val="F4F4F5"/>
              </a:solidFill>
            </a:endParaRPr>
          </a:p>
        </p:txBody>
      </p:sp>
      <p:sp>
        <p:nvSpPr>
          <p:cNvPr id="18" name="Result 2 label"/>
          <p:cNvSpPr txBox="1"/>
          <p:nvPr/>
        </p:nvSpPr>
        <p:spPr>
          <a:xfrm>
            <a:off x="4126992" y="3238500"/>
            <a:ext cx="1499616" cy="457200"/>
          </a:xfrm>
          <a:prstGeom prst="rect">
            <a:avLst/>
          </a:prstGeom>
          <a:noFill/>
          <a:ln/>
        </p:spPr>
        <p:txBody>
          <a:bodyPr wrap="square" lIns="0" tIns="0" rIns="0" bIns="0" rtlCol="0" anchor="t"/>
          <a:lstStyle/>
          <a:p>
            <a:pPr marL="0" indent="0" algn="ctr">
              <a:buNone/>
            </a:pPr>
            <a:r>
              <a:rPr lang="en-US" sz="1050" dirty="0">
                <a:solidFill>
                  <a:srgbClr val="A1A1AA"/>
                </a:solidFill>
              </a:rPr>
              <a:t>to understand you; simple commands answer instantly</a:t>
            </a:r>
            <a:endParaRPr lang="en-US" sz="1050" dirty="0">
              <a:solidFill>
                <a:srgbClr val="F4F4F5"/>
              </a:solidFill>
            </a:endParaRPr>
          </a:p>
        </p:txBody>
      </p:sp>
      <p:sp>
        <p:nvSpPr>
          <p:cNvPr id="19" name="Result 3 circle"/>
          <p:cNvSpPr/>
          <p:nvPr/>
        </p:nvSpPr>
        <p:spPr>
          <a:xfrm>
            <a:off x="5524500" y="685800"/>
            <a:ext cx="1752600" cy="1752600"/>
          </a:xfrm>
          <a:prstGeom prst="ellipse">
            <a:avLst/>
          </a:prstGeom>
          <a:solidFill>
            <a:srgbClr val="FF5F1F"/>
          </a:solidFill>
          <a:ln w="12700">
            <a:solidFill>
              <a:srgbClr val="FF6A2B"/>
            </a:solidFill>
            <a:prstDash val="solid"/>
          </a:ln>
        </p:spPr>
      </p:sp>
      <p:pic>
        <p:nvPicPr>
          <p:cNvPr id="20" name="Result 3 icon" descr="~5 s"/>
          <p:cNvPicPr>
            <a:picLocks noChangeAspect="1"/>
          </p:cNvPicPr>
          <p:nvPr/>
        </p:nvPicPr>
        <p:blipFill>
          <a:blip r:embed="rId6"/>
          <a:stretch>
            <a:fillRect/>
          </a:stretch>
        </p:blipFill>
        <p:spPr>
          <a:xfrm>
            <a:off x="6126480" y="1287780"/>
            <a:ext cx="548640" cy="548640"/>
          </a:xfrm>
          <a:prstGeom prst="rect">
            <a:avLst/>
          </a:prstGeom>
        </p:spPr>
      </p:pic>
      <p:sp>
        <p:nvSpPr>
          <p:cNvPr id="21" name="Result 3 arrow"/>
          <p:cNvSpPr/>
          <p:nvPr/>
        </p:nvSpPr>
        <p:spPr>
          <a:xfrm>
            <a:off x="6400800" y="2514600"/>
            <a:ext cx="914" cy="320040"/>
          </a:xfrm>
          <a:prstGeom prst="line">
            <a:avLst/>
          </a:prstGeom>
          <a:noFill/>
          <a:ln w="12700">
            <a:solidFill>
              <a:srgbClr val="3A3A42"/>
            </a:solidFill>
            <a:prstDash val="dash"/>
            <a:tailEnd type="triangle"/>
          </a:ln>
        </p:spPr>
      </p:sp>
      <p:sp>
        <p:nvSpPr>
          <p:cNvPr id="22" name="Result 3 value"/>
          <p:cNvSpPr txBox="1"/>
          <p:nvPr/>
        </p:nvSpPr>
        <p:spPr>
          <a:xfrm>
            <a:off x="5623560" y="2910840"/>
            <a:ext cx="1554480" cy="274320"/>
          </a:xfrm>
          <a:prstGeom prst="rect">
            <a:avLst/>
          </a:prstGeom>
          <a:noFill/>
          <a:ln/>
        </p:spPr>
        <p:txBody>
          <a:bodyPr wrap="square" lIns="0" tIns="0" rIns="0" bIns="0" rtlCol="0" anchor="ctr"/>
          <a:lstStyle/>
          <a:p>
            <a:pPr marL="0" indent="0" algn="ctr">
              <a:buNone/>
            </a:pPr>
            <a:r>
              <a:rPr lang="en-US" sz="1500" b="1" dirty="0">
                <a:solidFill>
                  <a:srgbClr val="F4F4F5"/>
                </a:solidFill>
              </a:rPr>
              <a:t>~5 s</a:t>
            </a:r>
            <a:endParaRPr lang="en-US" sz="1500" dirty="0">
              <a:solidFill>
                <a:srgbClr val="F4F4F5"/>
              </a:solidFill>
            </a:endParaRPr>
          </a:p>
        </p:txBody>
      </p:sp>
      <p:sp>
        <p:nvSpPr>
          <p:cNvPr id="23" name="Result 3 label"/>
          <p:cNvSpPr txBox="1"/>
          <p:nvPr/>
        </p:nvSpPr>
        <p:spPr>
          <a:xfrm>
            <a:off x="5650992" y="3238500"/>
            <a:ext cx="1499616" cy="457200"/>
          </a:xfrm>
          <a:prstGeom prst="rect">
            <a:avLst/>
          </a:prstGeom>
          <a:noFill/>
          <a:ln/>
        </p:spPr>
        <p:txBody>
          <a:bodyPr wrap="square" lIns="0" tIns="0" rIns="0" bIns="0" rtlCol="0" anchor="t"/>
          <a:lstStyle/>
          <a:p>
            <a:pPr marL="0" indent="0" algn="ctr">
              <a:buNone/>
            </a:pPr>
            <a:r>
              <a:rPr lang="en-US" sz="1050" dirty="0">
                <a:solidFill>
                  <a:srgbClr val="A1A1AA"/>
                </a:solidFill>
              </a:rPr>
              <a:t>for an AI answer, generated on the device</a:t>
            </a:r>
            <a:endParaRPr lang="en-US" sz="1050" dirty="0">
              <a:solidFill>
                <a:srgbClr val="F4F4F5"/>
              </a:solidFill>
            </a:endParaRPr>
          </a:p>
        </p:txBody>
      </p:sp>
      <p:sp>
        <p:nvSpPr>
          <p:cNvPr id="24" name="Result 4 circle"/>
          <p:cNvSpPr/>
          <p:nvPr/>
        </p:nvSpPr>
        <p:spPr>
          <a:xfrm>
            <a:off x="7033260" y="685800"/>
            <a:ext cx="1752600" cy="1752600"/>
          </a:xfrm>
          <a:prstGeom prst="ellipse">
            <a:avLst/>
          </a:prstGeom>
          <a:solidFill>
            <a:srgbClr val="2A1A14"/>
          </a:solidFill>
          <a:ln w="12700">
            <a:solidFill>
              <a:srgbClr val="4A3026"/>
            </a:solidFill>
            <a:prstDash val="solid"/>
          </a:ln>
        </p:spPr>
      </p:sp>
      <p:pic>
        <p:nvPicPr>
          <p:cNvPr id="25" name="Result 4 icon" descr="8 GB Pi 5"/>
          <p:cNvPicPr>
            <a:picLocks noChangeAspect="1"/>
          </p:cNvPicPr>
          <p:nvPr/>
        </p:nvPicPr>
        <p:blipFill>
          <a:blip r:embed="rId7"/>
          <a:stretch>
            <a:fillRect/>
          </a:stretch>
        </p:blipFill>
        <p:spPr>
          <a:xfrm>
            <a:off x="7635240" y="1287780"/>
            <a:ext cx="548640" cy="548640"/>
          </a:xfrm>
          <a:prstGeom prst="rect">
            <a:avLst/>
          </a:prstGeom>
        </p:spPr>
      </p:pic>
      <p:sp>
        <p:nvSpPr>
          <p:cNvPr id="26" name="Result 4 arrow"/>
          <p:cNvSpPr/>
          <p:nvPr/>
        </p:nvSpPr>
        <p:spPr>
          <a:xfrm>
            <a:off x="7909560" y="2514600"/>
            <a:ext cx="914" cy="320040"/>
          </a:xfrm>
          <a:prstGeom prst="line">
            <a:avLst/>
          </a:prstGeom>
          <a:noFill/>
          <a:ln w="12700">
            <a:solidFill>
              <a:srgbClr val="3A3A42"/>
            </a:solidFill>
            <a:prstDash val="dash"/>
            <a:tailEnd type="triangle"/>
          </a:ln>
        </p:spPr>
      </p:sp>
      <p:sp>
        <p:nvSpPr>
          <p:cNvPr id="27" name="Result 4 value"/>
          <p:cNvSpPr txBox="1"/>
          <p:nvPr/>
        </p:nvSpPr>
        <p:spPr>
          <a:xfrm>
            <a:off x="7132320" y="2910840"/>
            <a:ext cx="1554480" cy="274320"/>
          </a:xfrm>
          <a:prstGeom prst="rect">
            <a:avLst/>
          </a:prstGeom>
          <a:noFill/>
          <a:ln/>
        </p:spPr>
        <p:txBody>
          <a:bodyPr wrap="square" lIns="0" tIns="0" rIns="0" bIns="0" rtlCol="0" anchor="ctr"/>
          <a:lstStyle/>
          <a:p>
            <a:pPr marL="0" indent="0" algn="ctr">
              <a:buNone/>
            </a:pPr>
            <a:r>
              <a:rPr lang="en-US" sz="1500" b="1" dirty="0">
                <a:solidFill>
                  <a:srgbClr val="F4F4F5"/>
                </a:solidFill>
              </a:rPr>
              <a:t>8 GB Pi 5</a:t>
            </a:r>
            <a:endParaRPr lang="en-US" sz="1500" dirty="0">
              <a:solidFill>
                <a:srgbClr val="F4F4F5"/>
              </a:solidFill>
            </a:endParaRPr>
          </a:p>
        </p:txBody>
      </p:sp>
      <p:sp>
        <p:nvSpPr>
          <p:cNvPr id="28" name="Result 4 label"/>
          <p:cNvSpPr txBox="1"/>
          <p:nvPr/>
        </p:nvSpPr>
        <p:spPr>
          <a:xfrm>
            <a:off x="7159752" y="3238500"/>
            <a:ext cx="1499616" cy="457200"/>
          </a:xfrm>
          <a:prstGeom prst="rect">
            <a:avLst/>
          </a:prstGeom>
          <a:noFill/>
          <a:ln/>
        </p:spPr>
        <p:txBody>
          <a:bodyPr wrap="square" lIns="0" tIns="0" rIns="0" bIns="0" rtlCol="0" anchor="t"/>
          <a:lstStyle/>
          <a:p>
            <a:pPr marL="0" indent="0" algn="ctr">
              <a:buNone/>
            </a:pPr>
            <a:r>
              <a:rPr lang="en-US" sz="1050" dirty="0">
                <a:solidFill>
                  <a:srgbClr val="A1A1AA"/>
                </a:solidFill>
              </a:rPr>
              <a:t>runs everything, on your desk</a:t>
            </a:r>
            <a:endParaRPr lang="en-US" sz="1050" dirty="0">
              <a:solidFill>
                <a:srgbClr val="F4F4F5"/>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6" name="Title"/>
          <p:cNvSpPr txBox="1"/>
          <p:nvPr/>
        </p:nvSpPr>
        <p:spPr>
          <a:xfrm>
            <a:off x="91440" y="1463040"/>
            <a:ext cx="2103120" cy="1188720"/>
          </a:xfrm>
          <a:prstGeom prst="rect">
            <a:avLst/>
          </a:prstGeom>
          <a:noFill/>
          <a:ln/>
        </p:spPr>
        <p:txBody>
          <a:bodyPr wrap="square" lIns="0" tIns="0" rIns="0" bIns="0" rtlCol="0" anchor="ctr"/>
          <a:lstStyle/>
          <a:p>
            <a:pPr marL="0" indent="0">
              <a:buNone/>
            </a:pPr>
            <a:r>
              <a:rPr lang="en-US" sz="3600" b="1" dirty="0">
                <a:solidFill>
                  <a:srgbClr val="F4F4F5"/>
                </a:solidFill>
              </a:rPr>
              <a:t>What's</a:t>
            </a:r>
            <a:endParaRPr lang="en-US" sz="3600" dirty="0">
              <a:solidFill>
                <a:srgbClr val="F4F4F5"/>
              </a:solidFill>
            </a:endParaRPr>
          </a:p>
          <a:p>
            <a:pPr marL="0" indent="0">
              <a:buNone/>
            </a:pPr>
            <a:r>
              <a:rPr lang="en-US" sz="3600" b="1" dirty="0">
                <a:solidFill>
                  <a:srgbClr val="F4F4F5"/>
                </a:solidFill>
              </a:rPr>
              <a:t>Next</a:t>
            </a:r>
            <a:endParaRPr lang="en-US" sz="3600" dirty="0">
              <a:solidFill>
                <a:srgbClr val="F4F4F5"/>
              </a:solidFill>
            </a:endParaRPr>
          </a:p>
        </p:txBody>
      </p:sp>
      <p:sp>
        <p:nvSpPr>
          <p:cNvPr id="7" name="Next 1 tile"/>
          <p:cNvSpPr/>
          <p:nvPr/>
        </p:nvSpPr>
        <p:spPr>
          <a:xfrm>
            <a:off x="5943600" y="457200"/>
            <a:ext cx="713232" cy="713232"/>
          </a:xfrm>
          <a:prstGeom prst="rect">
            <a:avLst/>
          </a:prstGeom>
          <a:solidFill>
            <a:srgbClr val="FF5F1F"/>
          </a:solidFill>
          <a:ln w="12700">
            <a:solidFill>
              <a:srgbClr val="FF6A2B"/>
            </a:solidFill>
            <a:prstDash val="solid"/>
          </a:ln>
        </p:spPr>
      </p:sp>
      <p:pic>
        <p:nvPicPr>
          <p:cNvPr id="8" name="Next 1 icon" descr="Personal routines"/>
          <p:cNvPicPr>
            <a:picLocks noChangeAspect="1"/>
          </p:cNvPicPr>
          <p:nvPr/>
        </p:nvPicPr>
        <p:blipFill>
          <a:blip r:embed="rId3"/>
          <a:stretch>
            <a:fillRect/>
          </a:stretch>
        </p:blipFill>
        <p:spPr>
          <a:xfrm>
            <a:off x="6135624" y="649224"/>
            <a:ext cx="329184" cy="329184"/>
          </a:xfrm>
          <a:prstGeom prst="rect">
            <a:avLst/>
          </a:prstGeom>
        </p:spPr>
      </p:pic>
      <p:sp>
        <p:nvSpPr>
          <p:cNvPr id="9" name="Next 1 title"/>
          <p:cNvSpPr txBox="1"/>
          <p:nvPr/>
        </p:nvSpPr>
        <p:spPr>
          <a:xfrm>
            <a:off x="6812280" y="475488"/>
            <a:ext cx="2148840" cy="256032"/>
          </a:xfrm>
          <a:prstGeom prst="rect">
            <a:avLst/>
          </a:prstGeom>
          <a:noFill/>
          <a:ln/>
        </p:spPr>
        <p:txBody>
          <a:bodyPr wrap="square" lIns="0" tIns="0" rIns="0" bIns="0" rtlCol="0" anchor="ctr"/>
          <a:lstStyle/>
          <a:p>
            <a:pPr marL="0" indent="0">
              <a:buNone/>
            </a:pPr>
            <a:r>
              <a:rPr lang="en-US" sz="1250" b="1" dirty="0">
                <a:solidFill>
                  <a:srgbClr val="F4F4F5"/>
                </a:solidFill>
              </a:rPr>
              <a:t>Personal routines</a:t>
            </a:r>
            <a:endParaRPr lang="en-US" sz="1250" dirty="0">
              <a:solidFill>
                <a:srgbClr val="F4F4F5"/>
              </a:solidFill>
            </a:endParaRPr>
          </a:p>
        </p:txBody>
      </p:sp>
      <p:sp>
        <p:nvSpPr>
          <p:cNvPr id="10" name="Next 1 text"/>
          <p:cNvSpPr txBox="1"/>
          <p:nvPr/>
        </p:nvSpPr>
        <p:spPr>
          <a:xfrm>
            <a:off x="6812280" y="749808"/>
            <a:ext cx="2148840" cy="420624"/>
          </a:xfrm>
          <a:prstGeom prst="rect">
            <a:avLst/>
          </a:prstGeom>
          <a:noFill/>
          <a:ln/>
        </p:spPr>
        <p:txBody>
          <a:bodyPr wrap="square" lIns="0" tIns="0" rIns="0" bIns="0" rtlCol="0" anchor="t"/>
          <a:lstStyle/>
          <a:p>
            <a:pPr marL="0" indent="0">
              <a:buNone/>
            </a:pPr>
            <a:r>
              <a:rPr lang="en-US" sz="1050" dirty="0">
                <a:solidFill>
                  <a:srgbClr val="A1A1AA"/>
                </a:solidFill>
              </a:rPr>
              <a:t>Jarvis learns your daily habits, on the device.</a:t>
            </a:r>
            <a:endParaRPr lang="en-US" sz="1050" dirty="0">
              <a:solidFill>
                <a:srgbClr val="F4F4F5"/>
              </a:solidFill>
            </a:endParaRPr>
          </a:p>
        </p:txBody>
      </p:sp>
      <p:sp>
        <p:nvSpPr>
          <p:cNvPr id="11" name="Next 2 tile"/>
          <p:cNvSpPr/>
          <p:nvPr/>
        </p:nvSpPr>
        <p:spPr>
          <a:xfrm>
            <a:off x="4526280" y="1143000"/>
            <a:ext cx="713232" cy="713232"/>
          </a:xfrm>
          <a:prstGeom prst="rect">
            <a:avLst/>
          </a:prstGeom>
          <a:solidFill>
            <a:srgbClr val="E0602A"/>
          </a:solidFill>
          <a:ln w="12700">
            <a:solidFill>
              <a:srgbClr val="E0602A"/>
            </a:solidFill>
            <a:prstDash val="solid"/>
          </a:ln>
        </p:spPr>
      </p:sp>
      <p:pic>
        <p:nvPicPr>
          <p:cNvPr id="12" name="Next 2 icon" descr="Multilingual"/>
          <p:cNvPicPr>
            <a:picLocks noChangeAspect="1"/>
          </p:cNvPicPr>
          <p:nvPr/>
        </p:nvPicPr>
        <p:blipFill>
          <a:blip r:embed="rId4"/>
          <a:stretch>
            <a:fillRect/>
          </a:stretch>
        </p:blipFill>
        <p:spPr>
          <a:xfrm>
            <a:off x="4718304" y="1335024"/>
            <a:ext cx="329184" cy="329184"/>
          </a:xfrm>
          <a:prstGeom prst="rect">
            <a:avLst/>
          </a:prstGeom>
        </p:spPr>
      </p:pic>
      <p:sp>
        <p:nvSpPr>
          <p:cNvPr id="13" name="Next 2 title"/>
          <p:cNvSpPr txBox="1"/>
          <p:nvPr/>
        </p:nvSpPr>
        <p:spPr>
          <a:xfrm>
            <a:off x="2331720" y="1161288"/>
            <a:ext cx="2057400" cy="256032"/>
          </a:xfrm>
          <a:prstGeom prst="rect">
            <a:avLst/>
          </a:prstGeom>
          <a:noFill/>
          <a:ln/>
        </p:spPr>
        <p:txBody>
          <a:bodyPr wrap="square" lIns="0" tIns="0" rIns="0" bIns="0" rtlCol="0" anchor="ctr"/>
          <a:lstStyle/>
          <a:p>
            <a:pPr marL="0" indent="0">
              <a:buNone/>
            </a:pPr>
            <a:r>
              <a:rPr lang="en-US" sz="1250" b="1" dirty="0">
                <a:solidFill>
                  <a:srgbClr val="F4F4F5"/>
                </a:solidFill>
              </a:rPr>
              <a:t>Multilingual</a:t>
            </a:r>
            <a:endParaRPr lang="en-US" sz="1250" dirty="0">
              <a:solidFill>
                <a:srgbClr val="F4F4F5"/>
              </a:solidFill>
            </a:endParaRPr>
          </a:p>
        </p:txBody>
      </p:sp>
      <p:sp>
        <p:nvSpPr>
          <p:cNvPr id="14" name="Next 2 text"/>
          <p:cNvSpPr txBox="1"/>
          <p:nvPr/>
        </p:nvSpPr>
        <p:spPr>
          <a:xfrm>
            <a:off x="2331720" y="1435608"/>
            <a:ext cx="2057400" cy="420624"/>
          </a:xfrm>
          <a:prstGeom prst="rect">
            <a:avLst/>
          </a:prstGeom>
          <a:noFill/>
          <a:ln/>
        </p:spPr>
        <p:txBody>
          <a:bodyPr wrap="square" lIns="0" tIns="0" rIns="0" bIns="0" rtlCol="0" anchor="t"/>
          <a:lstStyle/>
          <a:p>
            <a:pPr marL="0" indent="0">
              <a:buNone/>
            </a:pPr>
            <a:r>
              <a:rPr lang="en-US" sz="1050" dirty="0">
                <a:solidFill>
                  <a:srgbClr val="A1A1AA"/>
                </a:solidFill>
              </a:rPr>
              <a:t>Hindi, Hinglish and more Indian languages.</a:t>
            </a:r>
            <a:endParaRPr lang="en-US" sz="1050" dirty="0">
              <a:solidFill>
                <a:srgbClr val="F4F4F5"/>
              </a:solidFill>
            </a:endParaRPr>
          </a:p>
        </p:txBody>
      </p:sp>
      <p:sp>
        <p:nvSpPr>
          <p:cNvPr id="15" name="Next 3 tile"/>
          <p:cNvSpPr/>
          <p:nvPr/>
        </p:nvSpPr>
        <p:spPr>
          <a:xfrm>
            <a:off x="5943600" y="1828800"/>
            <a:ext cx="713232" cy="713232"/>
          </a:xfrm>
          <a:prstGeom prst="rect">
            <a:avLst/>
          </a:prstGeom>
          <a:solidFill>
            <a:srgbClr val="2A1A14"/>
          </a:solidFill>
          <a:ln w="12700">
            <a:solidFill>
              <a:srgbClr val="4A3026"/>
            </a:solidFill>
            <a:prstDash val="solid"/>
          </a:ln>
        </p:spPr>
      </p:sp>
      <p:pic>
        <p:nvPicPr>
          <p:cNvPr id="16" name="Next 3 icon" descr="Privacy &amp; data security"/>
          <p:cNvPicPr>
            <a:picLocks noChangeAspect="1"/>
          </p:cNvPicPr>
          <p:nvPr/>
        </p:nvPicPr>
        <p:blipFill>
          <a:blip r:embed="rId5"/>
          <a:stretch>
            <a:fillRect/>
          </a:stretch>
        </p:blipFill>
        <p:spPr>
          <a:xfrm>
            <a:off x="6135624" y="2020824"/>
            <a:ext cx="329184" cy="329184"/>
          </a:xfrm>
          <a:prstGeom prst="rect">
            <a:avLst/>
          </a:prstGeom>
        </p:spPr>
      </p:pic>
      <p:sp>
        <p:nvSpPr>
          <p:cNvPr id="17" name="Next 3 title"/>
          <p:cNvSpPr txBox="1"/>
          <p:nvPr/>
        </p:nvSpPr>
        <p:spPr>
          <a:xfrm>
            <a:off x="6812280" y="1847088"/>
            <a:ext cx="2148840" cy="256032"/>
          </a:xfrm>
          <a:prstGeom prst="rect">
            <a:avLst/>
          </a:prstGeom>
          <a:noFill/>
          <a:ln/>
        </p:spPr>
        <p:txBody>
          <a:bodyPr wrap="square" lIns="0" tIns="0" rIns="0" bIns="0" rtlCol="0" anchor="ctr"/>
          <a:lstStyle/>
          <a:p>
            <a:pPr marL="0" indent="0">
              <a:buNone/>
            </a:pPr>
            <a:r>
              <a:rPr lang="en-US" sz="1250" b="1" dirty="0">
                <a:solidFill>
                  <a:srgbClr val="F4F4F5"/>
                </a:solidFill>
              </a:rPr>
              <a:t>Privacy &amp; data security</a:t>
            </a:r>
            <a:endParaRPr lang="en-US" sz="1250" dirty="0">
              <a:solidFill>
                <a:srgbClr val="F4F4F5"/>
              </a:solidFill>
            </a:endParaRPr>
          </a:p>
        </p:txBody>
      </p:sp>
      <p:sp>
        <p:nvSpPr>
          <p:cNvPr id="18" name="Next 3 text"/>
          <p:cNvSpPr txBox="1"/>
          <p:nvPr/>
        </p:nvSpPr>
        <p:spPr>
          <a:xfrm>
            <a:off x="6812280" y="2121408"/>
            <a:ext cx="2148840" cy="420624"/>
          </a:xfrm>
          <a:prstGeom prst="rect">
            <a:avLst/>
          </a:prstGeom>
          <a:noFill/>
          <a:ln/>
        </p:spPr>
        <p:txBody>
          <a:bodyPr wrap="square" lIns="0" tIns="0" rIns="0" bIns="0" rtlCol="0" anchor="t"/>
          <a:lstStyle/>
          <a:p>
            <a:pPr marL="0" indent="0">
              <a:buNone/>
            </a:pPr>
            <a:r>
              <a:rPr lang="en-US" sz="1050" dirty="0">
                <a:solidFill>
                  <a:srgbClr val="A1A1AA"/>
                </a:solidFill>
              </a:rPr>
              <a:t>Encrypted storage and a hardware mic cut-off.</a:t>
            </a:r>
            <a:endParaRPr lang="en-US" sz="1050" dirty="0">
              <a:solidFill>
                <a:srgbClr val="F4F4F5"/>
              </a:solidFill>
            </a:endParaRPr>
          </a:p>
        </p:txBody>
      </p:sp>
      <p:sp>
        <p:nvSpPr>
          <p:cNvPr id="19" name="Next 4 tile"/>
          <p:cNvSpPr/>
          <p:nvPr/>
        </p:nvSpPr>
        <p:spPr>
          <a:xfrm>
            <a:off x="4526280" y="2514600"/>
            <a:ext cx="713232" cy="713232"/>
          </a:xfrm>
          <a:prstGeom prst="rect">
            <a:avLst/>
          </a:prstGeom>
          <a:solidFill>
            <a:srgbClr val="FF5F1F"/>
          </a:solidFill>
          <a:ln w="12700">
            <a:solidFill>
              <a:srgbClr val="FF6A2B"/>
            </a:solidFill>
            <a:prstDash val="solid"/>
          </a:ln>
        </p:spPr>
      </p:sp>
      <p:pic>
        <p:nvPicPr>
          <p:cNvPr id="20" name="Next 4 icon" descr="Voice &amp; face recognition"/>
          <p:cNvPicPr>
            <a:picLocks noChangeAspect="1"/>
          </p:cNvPicPr>
          <p:nvPr/>
        </p:nvPicPr>
        <p:blipFill>
          <a:blip r:embed="rId6"/>
          <a:stretch>
            <a:fillRect/>
          </a:stretch>
        </p:blipFill>
        <p:spPr>
          <a:xfrm>
            <a:off x="4718304" y="2706624"/>
            <a:ext cx="329184" cy="329184"/>
          </a:xfrm>
          <a:prstGeom prst="rect">
            <a:avLst/>
          </a:prstGeom>
        </p:spPr>
      </p:pic>
      <p:sp>
        <p:nvSpPr>
          <p:cNvPr id="21" name="Next 4 title"/>
          <p:cNvSpPr txBox="1"/>
          <p:nvPr/>
        </p:nvSpPr>
        <p:spPr>
          <a:xfrm>
            <a:off x="2331720" y="2532888"/>
            <a:ext cx="2057400" cy="256032"/>
          </a:xfrm>
          <a:prstGeom prst="rect">
            <a:avLst/>
          </a:prstGeom>
          <a:noFill/>
          <a:ln/>
        </p:spPr>
        <p:txBody>
          <a:bodyPr wrap="square" lIns="0" tIns="0" rIns="0" bIns="0" rtlCol="0" anchor="ctr"/>
          <a:lstStyle/>
          <a:p>
            <a:pPr marL="0" indent="0">
              <a:buNone/>
            </a:pPr>
            <a:r>
              <a:rPr lang="en-US" sz="1250" b="1" dirty="0">
                <a:solidFill>
                  <a:srgbClr val="F4F4F5"/>
                </a:solidFill>
              </a:rPr>
              <a:t>Voice &amp; face recognition</a:t>
            </a:r>
            <a:endParaRPr lang="en-US" sz="1250" dirty="0">
              <a:solidFill>
                <a:srgbClr val="F4F4F5"/>
              </a:solidFill>
            </a:endParaRPr>
          </a:p>
        </p:txBody>
      </p:sp>
      <p:sp>
        <p:nvSpPr>
          <p:cNvPr id="22" name="Next 4 text"/>
          <p:cNvSpPr txBox="1"/>
          <p:nvPr/>
        </p:nvSpPr>
        <p:spPr>
          <a:xfrm>
            <a:off x="2331720" y="2807208"/>
            <a:ext cx="2057400" cy="420624"/>
          </a:xfrm>
          <a:prstGeom prst="rect">
            <a:avLst/>
          </a:prstGeom>
          <a:noFill/>
          <a:ln/>
        </p:spPr>
        <p:txBody>
          <a:bodyPr wrap="square" lIns="0" tIns="0" rIns="0" bIns="0" rtlCol="0" anchor="t"/>
          <a:lstStyle/>
          <a:p>
            <a:pPr marL="0" indent="0">
              <a:buNone/>
            </a:pPr>
            <a:r>
              <a:rPr lang="en-US" sz="1050" dirty="0">
                <a:solidFill>
                  <a:srgbClr val="A1A1AA"/>
                </a:solidFill>
              </a:rPr>
              <a:t>Knows who's talking, for real guest privacy.</a:t>
            </a:r>
            <a:endParaRPr lang="en-US" sz="1050" dirty="0">
              <a:solidFill>
                <a:srgbClr val="F4F4F5"/>
              </a:solidFill>
            </a:endParaRPr>
          </a:p>
        </p:txBody>
      </p:sp>
      <p:sp>
        <p:nvSpPr>
          <p:cNvPr id="23" name="Next 5 tile"/>
          <p:cNvSpPr/>
          <p:nvPr/>
        </p:nvSpPr>
        <p:spPr>
          <a:xfrm>
            <a:off x="5943600" y="3200400"/>
            <a:ext cx="713232" cy="713232"/>
          </a:xfrm>
          <a:prstGeom prst="rect">
            <a:avLst/>
          </a:prstGeom>
          <a:solidFill>
            <a:srgbClr val="E0602A"/>
          </a:solidFill>
          <a:ln w="12700">
            <a:solidFill>
              <a:srgbClr val="E0602A"/>
            </a:solidFill>
            <a:prstDash val="solid"/>
          </a:ln>
        </p:spPr>
      </p:sp>
      <p:pic>
        <p:nvPicPr>
          <p:cNvPr id="24" name="Next 5 icon" descr="Finished device"/>
          <p:cNvPicPr>
            <a:picLocks noChangeAspect="1"/>
          </p:cNvPicPr>
          <p:nvPr/>
        </p:nvPicPr>
        <p:blipFill>
          <a:blip r:embed="rId7"/>
          <a:stretch>
            <a:fillRect/>
          </a:stretch>
        </p:blipFill>
        <p:spPr>
          <a:xfrm>
            <a:off x="6135624" y="3392424"/>
            <a:ext cx="329184" cy="329184"/>
          </a:xfrm>
          <a:prstGeom prst="rect">
            <a:avLst/>
          </a:prstGeom>
        </p:spPr>
      </p:pic>
      <p:sp>
        <p:nvSpPr>
          <p:cNvPr id="25" name="Next 5 title"/>
          <p:cNvSpPr txBox="1"/>
          <p:nvPr/>
        </p:nvSpPr>
        <p:spPr>
          <a:xfrm>
            <a:off x="6812280" y="3218688"/>
            <a:ext cx="2148840" cy="256032"/>
          </a:xfrm>
          <a:prstGeom prst="rect">
            <a:avLst/>
          </a:prstGeom>
          <a:noFill/>
          <a:ln/>
        </p:spPr>
        <p:txBody>
          <a:bodyPr wrap="square" lIns="0" tIns="0" rIns="0" bIns="0" rtlCol="0" anchor="ctr"/>
          <a:lstStyle/>
          <a:p>
            <a:pPr marL="0" indent="0">
              <a:buNone/>
            </a:pPr>
            <a:r>
              <a:rPr lang="en-US" sz="1250" b="1" dirty="0">
                <a:solidFill>
                  <a:srgbClr val="F4F4F5"/>
                </a:solidFill>
              </a:rPr>
              <a:t>Finished device</a:t>
            </a:r>
            <a:endParaRPr lang="en-US" sz="1250" dirty="0">
              <a:solidFill>
                <a:srgbClr val="F4F4F5"/>
              </a:solidFill>
            </a:endParaRPr>
          </a:p>
        </p:txBody>
      </p:sp>
      <p:sp>
        <p:nvSpPr>
          <p:cNvPr id="26" name="Next 5 text"/>
          <p:cNvSpPr txBox="1"/>
          <p:nvPr/>
        </p:nvSpPr>
        <p:spPr>
          <a:xfrm>
            <a:off x="6812280" y="3493008"/>
            <a:ext cx="2148840" cy="420624"/>
          </a:xfrm>
          <a:prstGeom prst="rect">
            <a:avLst/>
          </a:prstGeom>
          <a:noFill/>
          <a:ln/>
        </p:spPr>
        <p:txBody>
          <a:bodyPr wrap="square" lIns="0" tIns="0" rIns="0" bIns="0" rtlCol="0" anchor="t"/>
          <a:lstStyle/>
          <a:p>
            <a:pPr marL="0" indent="0">
              <a:buNone/>
            </a:pPr>
            <a:r>
              <a:rPr lang="en-US" sz="1050" dirty="0">
                <a:solidFill>
                  <a:srgbClr val="A1A1AA"/>
                </a:solidFill>
              </a:rPr>
              <a:t>A compact case with built-in mic, speaker and battery.</a:t>
            </a:r>
            <a:endParaRPr lang="en-US" sz="1050" dirty="0">
              <a:solidFill>
                <a:srgbClr val="F4F4F5"/>
              </a:solidFill>
            </a:endParaRPr>
          </a:p>
        </p:txBody>
      </p:sp>
      <p:sp>
        <p:nvSpPr>
          <p:cNvPr id="27" name="Next 6 tile"/>
          <p:cNvSpPr/>
          <p:nvPr/>
        </p:nvSpPr>
        <p:spPr>
          <a:xfrm>
            <a:off x="4526280" y="3886200"/>
            <a:ext cx="713232" cy="713232"/>
          </a:xfrm>
          <a:prstGeom prst="rect">
            <a:avLst/>
          </a:prstGeom>
          <a:solidFill>
            <a:srgbClr val="1A1A1F"/>
          </a:solidFill>
          <a:ln w="12700">
            <a:solidFill>
              <a:srgbClr val="2C2C33"/>
            </a:solidFill>
            <a:prstDash val="solid"/>
          </a:ln>
        </p:spPr>
      </p:sp>
      <p:pic>
        <p:nvPicPr>
          <p:cNvPr id="28" name="Next 6 icon" descr="Noise cancellation"/>
          <p:cNvPicPr>
            <a:picLocks noChangeAspect="1"/>
          </p:cNvPicPr>
          <p:nvPr/>
        </p:nvPicPr>
        <p:blipFill>
          <a:blip r:embed="rId8"/>
          <a:stretch>
            <a:fillRect/>
          </a:stretch>
        </p:blipFill>
        <p:spPr>
          <a:xfrm>
            <a:off x="4718304" y="4078224"/>
            <a:ext cx="329184" cy="329184"/>
          </a:xfrm>
          <a:prstGeom prst="rect">
            <a:avLst/>
          </a:prstGeom>
        </p:spPr>
      </p:pic>
      <p:sp>
        <p:nvSpPr>
          <p:cNvPr id="29" name="Next 6 title"/>
          <p:cNvSpPr txBox="1"/>
          <p:nvPr/>
        </p:nvSpPr>
        <p:spPr>
          <a:xfrm>
            <a:off x="2331720" y="3904488"/>
            <a:ext cx="2057400" cy="256032"/>
          </a:xfrm>
          <a:prstGeom prst="rect">
            <a:avLst/>
          </a:prstGeom>
          <a:noFill/>
          <a:ln/>
        </p:spPr>
        <p:txBody>
          <a:bodyPr wrap="square" lIns="0" tIns="0" rIns="0" bIns="0" rtlCol="0" anchor="ctr"/>
          <a:lstStyle/>
          <a:p>
            <a:pPr marL="0" indent="0">
              <a:buNone/>
            </a:pPr>
            <a:r>
              <a:rPr lang="en-US" sz="1250" b="1" dirty="0">
                <a:solidFill>
                  <a:srgbClr val="F4F4F5"/>
                </a:solidFill>
              </a:rPr>
              <a:t>Noise cancellation</a:t>
            </a:r>
            <a:endParaRPr lang="en-US" sz="1250" dirty="0">
              <a:solidFill>
                <a:srgbClr val="F4F4F5"/>
              </a:solidFill>
            </a:endParaRPr>
          </a:p>
        </p:txBody>
      </p:sp>
      <p:sp>
        <p:nvSpPr>
          <p:cNvPr id="30" name="Next 6 text"/>
          <p:cNvSpPr txBox="1"/>
          <p:nvPr/>
        </p:nvSpPr>
        <p:spPr>
          <a:xfrm>
            <a:off x="2331720" y="4178808"/>
            <a:ext cx="2057400" cy="420624"/>
          </a:xfrm>
          <a:prstGeom prst="rect">
            <a:avLst/>
          </a:prstGeom>
          <a:noFill/>
          <a:ln/>
        </p:spPr>
        <p:txBody>
          <a:bodyPr wrap="square" lIns="0" tIns="0" rIns="0" bIns="0" rtlCol="0" anchor="t"/>
          <a:lstStyle/>
          <a:p>
            <a:pPr marL="0" indent="0">
              <a:buNone/>
            </a:pPr>
            <a:r>
              <a:rPr lang="en-US" sz="1050" dirty="0">
                <a:solidFill>
                  <a:srgbClr val="A1A1AA"/>
                </a:solidFill>
              </a:rPr>
              <a:t>A mic array that hears you in noisy rooms.</a:t>
            </a:r>
            <a:endParaRPr lang="en-US" sz="1050" dirty="0">
              <a:solidFill>
                <a:srgbClr val="F4F4F5"/>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Bg1"/>
          <a:srcRect/>
          <a:stretch>
            <a:fillRect/>
          </a:stretch>
        </a:blipFill>
        <a:effectLst/>
      </p:bgPr>
    </p:bg>
    <p:spTree>
      <p:nvGrpSpPr>
        <p:cNvPr id="1" name=""/>
        <p:cNvGrpSpPr/>
        <p:nvPr/>
      </p:nvGrpSpPr>
      <p:grpSpPr>
        <a:xfrm>
          <a:off x="0" y="0"/>
          <a:ext cx="0" cy="0"/>
          <a:chOff x="0" y="0"/>
          <a:chExt cx="0" cy="0"/>
        </a:xfrm>
      </p:grpSpPr>
      <p:sp>
        <p:nvSpPr>
          <p:cNvPr id="12" name="Text 10"/>
          <p:cNvSpPr txBox="1"/>
          <p:nvPr/>
        </p:nvSpPr>
        <p:spPr>
          <a:xfrm>
            <a:off x="914400" y="3200400"/>
            <a:ext cx="7315200" cy="731520"/>
          </a:xfrm>
          <a:prstGeom prst="rect">
            <a:avLst/>
          </a:prstGeom>
          <a:noFill/>
          <a:ln/>
        </p:spPr>
        <p:txBody>
          <a:bodyPr wrap="square" lIns="0" tIns="0" rIns="0" bIns="0" rtlCol="0" anchor="ctr"/>
          <a:lstStyle/>
          <a:p>
            <a:pPr marL="0" indent="0" algn="ctr">
              <a:buNone/>
            </a:pPr>
            <a:r>
              <a:rPr lang="en-US" sz="4000" b="1" dirty="0">
                <a:solidFill>
                  <a:srgbClr val="FFFFFF"/>
                </a:solidFill>
                <a:latin typeface="Poppins" pitchFamily="34" charset="0"/>
                <a:ea typeface="Poppins" pitchFamily="34" charset="-122"/>
                <a:cs typeface="Poppins" pitchFamily="34" charset="-120"/>
              </a:rPr>
              <a:t>Thank you!</a:t>
            </a:r>
            <a:endParaRPr lang="en-US" sz="4000" dirty="0">
              <a:solidFill>
                <a:srgbClr val="FFFFFF"/>
              </a:solidFill>
            </a:endParaRPr>
          </a:p>
        </p:txBody>
      </p:sp>
      <p:sp>
        <p:nvSpPr>
          <p:cNvPr id="13" name="Text 11"/>
          <p:cNvSpPr txBox="1"/>
          <p:nvPr/>
        </p:nvSpPr>
        <p:spPr>
          <a:xfrm>
            <a:off x="914400" y="3931920"/>
            <a:ext cx="7315200" cy="365760"/>
          </a:xfrm>
          <a:prstGeom prst="rect">
            <a:avLst/>
          </a:prstGeom>
          <a:noFill/>
          <a:ln/>
        </p:spPr>
        <p:txBody>
          <a:bodyPr wrap="square" lIns="0" tIns="0" rIns="0" bIns="0" rtlCol="0" anchor="ctr"/>
          <a:lstStyle/>
          <a:p>
            <a:pPr marL="0" indent="0" algn="ctr">
              <a:buNone/>
            </a:pPr>
            <a:r>
              <a:rPr lang="en-US" sz="1400" dirty="0">
                <a:solidFill>
                  <a:srgbClr val="A1A1AA"/>
                </a:solidFill>
                <a:latin typeface="Poppins" pitchFamily="34" charset="0"/>
                <a:ea typeface="Poppins" pitchFamily="34" charset="-122"/>
                <a:cs typeface="Poppins" pitchFamily="34" charset="-120"/>
              </a:rPr>
              <a:t>Questions? Ask Jarvis… or ask us 🙂</a:t>
            </a:r>
            <a:endParaRPr lang="en-US" sz="1400" dirty="0">
              <a:solidFill>
                <a:srgbClr val="A1A1A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Bg1"/>
          <a:srcRect/>
          <a:stretch>
            <a:fillRect/>
          </a:stretch>
        </a:blipFill>
        <a:effectLst/>
      </p:bgPr>
    </p:bg>
    <p:spTree>
      <p:nvGrpSpPr>
        <p:cNvPr id="1" name=""/>
        <p:cNvGrpSpPr/>
        <p:nvPr/>
      </p:nvGrpSpPr>
      <p:grpSpPr>
        <a:xfrm>
          <a:off x="0" y="0"/>
          <a:ext cx="0" cy="0"/>
          <a:chOff x="0" y="0"/>
          <a:chExt cx="0" cy="0"/>
        </a:xfrm>
      </p:grpSpPr>
      <p:pic>
        <p:nvPicPr>
          <p:cNvPr id="13" name="How Jarvis answers you" descr="How Jarvis answers: hear, record, write down, clean up, then safety, features and commands are asked in turn before the router and the AI; the reply is spoken and shown.">
            <a:extLst>
              <a:ext uri="{FF2B5EF4-FFF2-40B4-BE49-F238E27FC236}">
                <a16:creationId xmlns:a16="http://schemas.microsoft.com/office/drawing/2014/main" id="{7F321140-66D7-4B65-C156-FF5C41A1F2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845407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2220</Words>
  <Application>Microsoft Office PowerPoint</Application>
  <PresentationFormat>On-screen Show (16:9)</PresentationFormat>
  <Paragraphs>193</Paragraphs>
  <Slides>14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Poppins</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Jarvis</dc:title>
  <dc:subject>PptxGenJS Presentation</dc:subject>
  <dc:creator>PptxGenJS</dc:creator>
  <cp:lastModifiedBy>varad kalambarkar</cp:lastModifiedBy>
  <cp:revision>16</cp:revision>
  <dcterms:created xsi:type="dcterms:W3CDTF">2026-10-09T14:13:37Z</dcterms:created>
  <dcterms:modified xsi:type="dcterms:W3CDTF">2026-10-09T20:08:34Z</dcterms:modified>
</cp:coreProperties>
</file>